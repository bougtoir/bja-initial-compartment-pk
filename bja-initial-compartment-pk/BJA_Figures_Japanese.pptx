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47120" cy="548640"/>
          </a:xfrm>
          <a:prstGeom prst="rect">
            <a:avLst/>
          </a:prstGeom>
          <a:noFill/>
        </p:spPr>
        <p:txBody>
          <a:bodyPr wrap="square">
            <a:spAutoFit/>
          </a:bodyPr>
          <a:lstStyle/>
          <a:p>
            <a:pPr algn="ctr">
              <a:defRPr sz="2000" b="1">
                <a:solidFill>
                  <a:srgbClr val="37474F"/>
                </a:solidFill>
              </a:defRPr>
            </a:pPr>
            <a:r>
              <a:t>図1. 3つの臨床シナリオにおけるコンパートメントモデルの比較</a:t>
            </a:r>
          </a:p>
        </p:txBody>
      </p:sp>
      <p:pic>
        <p:nvPicPr>
          <p:cNvPr id="3" name="Picture 2" descr="figure1_compartment_models.png"/>
          <p:cNvPicPr>
            <a:picLocks noChangeAspect="1"/>
          </p:cNvPicPr>
          <p:nvPr/>
        </p:nvPicPr>
        <p:blipFill>
          <a:blip r:embed="rId2"/>
          <a:stretch>
            <a:fillRect/>
          </a:stretch>
        </p:blipFill>
        <p:spPr>
          <a:xfrm>
            <a:off x="457200" y="914400"/>
            <a:ext cx="11247120" cy="5029200"/>
          </a:xfrm>
          <a:prstGeom prst="rect">
            <a:avLst/>
          </a:prstGeom>
        </p:spPr>
      </p:pic>
      <p:sp>
        <p:nvSpPr>
          <p:cNvPr id="4" name="TextBox 3"/>
          <p:cNvSpPr txBox="1"/>
          <p:nvPr/>
        </p:nvSpPr>
        <p:spPr>
          <a:xfrm>
            <a:off x="457200" y="6126480"/>
            <a:ext cx="11247120" cy="457200"/>
          </a:xfrm>
          <a:prstGeom prst="rect">
            <a:avLst/>
          </a:prstGeom>
          <a:noFill/>
        </p:spPr>
        <p:txBody>
          <a:bodyPr wrap="square">
            <a:spAutoFit/>
          </a:bodyPr>
          <a:lstStyle/>
          <a:p>
            <a:pPr algn="ctr">
              <a:defRPr sz="1200" b="0">
                <a:solidFill>
                  <a:srgbClr val="37474F"/>
                </a:solidFill>
              </a:defRPr>
            </a:pPr>
            <a:r>
              <a:t>(A) 従来のIVモデル  |  (B) 成功した区域ブロック (BPTスタート)  |  (C) 不成功のブロック / 血管内注入 (血漿/BRTスタート)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91440"/>
            <a:ext cx="11247120" cy="731520"/>
          </a:xfrm>
          <a:prstGeom prst="rect">
            <a:avLst/>
          </a:prstGeom>
          <a:noFill/>
        </p:spPr>
        <p:txBody>
          <a:bodyPr wrap="square">
            <a:spAutoFit/>
          </a:bodyPr>
          <a:lstStyle/>
          <a:p>
            <a:pPr algn="ctr">
              <a:defRPr sz="2000" b="1">
                <a:solidFill>
                  <a:srgbClr val="37474F"/>
                </a:solidFill>
              </a:defRPr>
            </a:pPr>
            <a:r>
              <a:t>図2. 初期コンパートメント別のシミュレーション血漿濃度–時間プロファイル</a:t>
            </a:r>
          </a:p>
        </p:txBody>
      </p:sp>
      <p:pic>
        <p:nvPicPr>
          <p:cNvPr id="3" name="Picture 2" descr="figure2_pk_simulation.png"/>
          <p:cNvPicPr>
            <a:picLocks noChangeAspect="1"/>
          </p:cNvPicPr>
          <p:nvPr/>
        </p:nvPicPr>
        <p:blipFill>
          <a:blip r:embed="rId2"/>
          <a:stretch>
            <a:fillRect/>
          </a:stretch>
        </p:blipFill>
        <p:spPr>
          <a:xfrm>
            <a:off x="1371600" y="914400"/>
            <a:ext cx="9418320" cy="54864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91440"/>
            <a:ext cx="11612880" cy="548640"/>
          </a:xfrm>
          <a:prstGeom prst="rect">
            <a:avLst/>
          </a:prstGeom>
          <a:noFill/>
        </p:spPr>
        <p:txBody>
          <a:bodyPr wrap="square">
            <a:spAutoFit/>
          </a:bodyPr>
          <a:lstStyle/>
          <a:p>
            <a:pPr algn="ctr">
              <a:defRPr sz="2000" b="1">
                <a:solidFill>
                  <a:srgbClr val="37474F"/>
                </a:solidFill>
              </a:defRPr>
            </a:pPr>
            <a:r>
              <a:t>図3. 区域麻酔におけるPBPKベースの極量再評価ワークフロー</a:t>
            </a:r>
          </a:p>
        </p:txBody>
      </p:sp>
      <p:sp>
        <p:nvSpPr>
          <p:cNvPr id="3" name="Rounded Rectangle 2"/>
          <p:cNvSpPr/>
          <p:nvPr/>
        </p:nvSpPr>
        <p:spPr>
          <a:xfrm>
            <a:off x="457200" y="914400"/>
            <a:ext cx="2926080" cy="914400"/>
          </a:xfrm>
          <a:prstGeom prst="roundRect">
            <a:avLst/>
          </a:prstGeom>
          <a:solidFill>
            <a:srgbClr val="5C6BC0"/>
          </a:solidFill>
          <a:ln w="19050">
            <a:solidFill>
              <a:srgbClr val="3F51B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defRPr>
            </a:pPr>
            <a:r>
              <a:t>ステップ1</a:t>
            </a:r>
          </a:p>
          <a:p>
            <a:pPr algn="ctr">
              <a:defRPr sz="1400" b="1">
                <a:solidFill>
                  <a:srgbClr val="FFFFFF"/>
                </a:solidFill>
              </a:defRPr>
            </a:pPr>
            <a:r>
              <a:t>臨床評価</a:t>
            </a:r>
          </a:p>
        </p:txBody>
      </p:sp>
      <p:sp>
        <p:nvSpPr>
          <p:cNvPr id="4" name="Right Arrow 3"/>
          <p:cNvSpPr/>
          <p:nvPr/>
        </p:nvSpPr>
        <p:spPr>
          <a:xfrm>
            <a:off x="3474720" y="1143000"/>
            <a:ext cx="640080" cy="274320"/>
          </a:xfrm>
          <a:prstGeom prst="rightArrow">
            <a:avLst/>
          </a:prstGeom>
          <a:solidFill>
            <a:srgbClr val="9E9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206240" y="914400"/>
            <a:ext cx="2926080" cy="914400"/>
          </a:xfrm>
          <a:prstGeom prst="roundRect">
            <a:avLst/>
          </a:prstGeom>
          <a:solidFill>
            <a:srgbClr val="FF9800"/>
          </a:solidFill>
          <a:ln w="19050">
            <a:solidFill>
              <a:srgbClr val="E651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defRPr>
            </a:pPr>
            <a:r>
              <a:t>ステップ2</a:t>
            </a:r>
          </a:p>
          <a:p>
            <a:pPr algn="ctr">
              <a:defRPr sz="1400" b="1">
                <a:solidFill>
                  <a:srgbClr val="FFFFFF"/>
                </a:solidFill>
              </a:defRPr>
            </a:pPr>
            <a:r>
              <a:t>初期コンパートメント選択</a:t>
            </a:r>
          </a:p>
        </p:txBody>
      </p:sp>
      <p:sp>
        <p:nvSpPr>
          <p:cNvPr id="6" name="Right Arrow 5"/>
          <p:cNvSpPr/>
          <p:nvPr/>
        </p:nvSpPr>
        <p:spPr>
          <a:xfrm>
            <a:off x="7223760" y="1143000"/>
            <a:ext cx="640080" cy="274320"/>
          </a:xfrm>
          <a:prstGeom prst="rightArrow">
            <a:avLst/>
          </a:prstGeom>
          <a:solidFill>
            <a:srgbClr val="9E9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955279" y="914400"/>
            <a:ext cx="2926080" cy="914400"/>
          </a:xfrm>
          <a:prstGeom prst="roundRect">
            <a:avLst/>
          </a:prstGeom>
          <a:solidFill>
            <a:srgbClr val="9C27B0"/>
          </a:solidFill>
          <a:ln w="19050">
            <a:solidFill>
              <a:srgbClr val="6A1B9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ステップ3</a:t>
            </a:r>
          </a:p>
          <a:p>
            <a:pPr algn="ctr">
              <a:defRPr sz="1300" b="1">
                <a:solidFill>
                  <a:srgbClr val="FFFFFF"/>
                </a:solidFill>
              </a:defRPr>
            </a:pPr>
            <a:r>
              <a:t>PBPKシミュレーション</a:t>
            </a:r>
          </a:p>
          <a:p>
            <a:pPr algn="ctr">
              <a:defRPr sz="1300" b="1">
                <a:solidFill>
                  <a:srgbClr val="FFFFFF"/>
                </a:solidFill>
              </a:defRPr>
            </a:pPr>
            <a:r>
              <a:t>(PK-Sim / MoBi)</a:t>
            </a:r>
          </a:p>
        </p:txBody>
      </p:sp>
      <p:sp>
        <p:nvSpPr>
          <p:cNvPr id="8" name="Down Arrow 7"/>
          <p:cNvSpPr/>
          <p:nvPr/>
        </p:nvSpPr>
        <p:spPr>
          <a:xfrm>
            <a:off x="1828800" y="2103120"/>
            <a:ext cx="274320" cy="457200"/>
          </a:xfrm>
          <a:prstGeom prst="downArrow">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wn Arrow 8"/>
          <p:cNvSpPr/>
          <p:nvPr/>
        </p:nvSpPr>
        <p:spPr>
          <a:xfrm>
            <a:off x="5486400" y="2103120"/>
            <a:ext cx="274320" cy="457200"/>
          </a:xfrm>
          <a:prstGeom prst="downArrow">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wn Arrow 9"/>
          <p:cNvSpPr/>
          <p:nvPr/>
        </p:nvSpPr>
        <p:spPr>
          <a:xfrm>
            <a:off x="9144000" y="2103120"/>
            <a:ext cx="274320" cy="457200"/>
          </a:xfrm>
          <a:prstGeom prst="downArrow">
            <a:avLst/>
          </a:prstGeom>
          <a:solidFill>
            <a:srgbClr val="F44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74320" y="2743200"/>
            <a:ext cx="3200400" cy="1645920"/>
          </a:xfrm>
          <a:prstGeom prst="roundRect">
            <a:avLst/>
          </a:prstGeom>
          <a:solidFill>
            <a:srgbClr val="E8F5E9"/>
          </a:solidFill>
          <a:ln w="1905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2E7D32"/>
                </a:solidFill>
              </a:defRPr>
            </a:pPr>
            <a:r>
              <a:t>成功したブロック</a:t>
            </a:r>
          </a:p>
          <a:p>
            <a:pPr algn="ctr">
              <a:defRPr sz="1200" b="0">
                <a:solidFill>
                  <a:srgbClr val="2E7D32"/>
                </a:solidFill>
              </a:defRPr>
            </a:pPr>
            <a:r>
              <a:t>BPTスタート</a:t>
            </a:r>
          </a:p>
          <a:p>
            <a:pPr algn="ctr">
              <a:defRPr sz="1200" b="0">
                <a:solidFill>
                  <a:srgbClr val="2E7D32"/>
                </a:solidFill>
              </a:defRPr>
            </a:pPr>
          </a:p>
          <a:p>
            <a:pPr algn="ctr">
              <a:defRPr sz="1200" b="0">
                <a:solidFill>
                  <a:srgbClr val="2E7D32"/>
                </a:solidFill>
              </a:defRPr>
            </a:pPr>
            <a:r>
              <a:t>低いCmax</a:t>
            </a:r>
          </a:p>
          <a:p>
            <a:pPr algn="ctr">
              <a:defRPr sz="1200" b="0">
                <a:solidFill>
                  <a:srgbClr val="2E7D32"/>
                </a:solidFill>
              </a:defRPr>
            </a:pPr>
            <a:r>
              <a:t>より高用量が安全な可能性</a:t>
            </a:r>
          </a:p>
        </p:txBody>
      </p:sp>
      <p:sp>
        <p:nvSpPr>
          <p:cNvPr id="12" name="Rounded Rectangle 11"/>
          <p:cNvSpPr/>
          <p:nvPr/>
        </p:nvSpPr>
        <p:spPr>
          <a:xfrm>
            <a:off x="4114800" y="2743200"/>
            <a:ext cx="3200400" cy="1645920"/>
          </a:xfrm>
          <a:prstGeom prst="roundRect">
            <a:avLst/>
          </a:prstGeom>
          <a:solidFill>
            <a:srgbClr val="FFF3E0"/>
          </a:solidFill>
          <a:ln w="19050">
            <a:solidFill>
              <a:srgbClr val="FF98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E65100"/>
                </a:solidFill>
              </a:defRPr>
            </a:pPr>
            <a:r>
              <a:t>部分的ブロック</a:t>
            </a:r>
          </a:p>
          <a:p>
            <a:pPr algn="ctr">
              <a:defRPr sz="1200" b="0">
                <a:solidFill>
                  <a:srgbClr val="E65100"/>
                </a:solidFill>
              </a:defRPr>
            </a:pPr>
            <a:r>
              <a:t>混合スタート</a:t>
            </a:r>
          </a:p>
          <a:p>
            <a:pPr algn="ctr">
              <a:defRPr sz="1200" b="0">
                <a:solidFill>
                  <a:srgbClr val="E65100"/>
                </a:solidFill>
              </a:defRPr>
            </a:pPr>
          </a:p>
          <a:p>
            <a:pPr algn="ctr">
              <a:defRPr sz="1200" b="0">
                <a:solidFill>
                  <a:srgbClr val="E65100"/>
                </a:solidFill>
              </a:defRPr>
            </a:pPr>
            <a:r>
              <a:t>中間的Cmax</a:t>
            </a:r>
          </a:p>
        </p:txBody>
      </p:sp>
      <p:sp>
        <p:nvSpPr>
          <p:cNvPr id="13" name="Rounded Rectangle 12"/>
          <p:cNvSpPr/>
          <p:nvPr/>
        </p:nvSpPr>
        <p:spPr>
          <a:xfrm>
            <a:off x="7955279" y="2743200"/>
            <a:ext cx="3200400" cy="1645920"/>
          </a:xfrm>
          <a:prstGeom prst="roundRect">
            <a:avLst/>
          </a:prstGeom>
          <a:solidFill>
            <a:srgbClr val="FCE4EC"/>
          </a:solidFill>
          <a:ln w="19050">
            <a:solidFill>
              <a:srgbClr val="F4433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C62828"/>
                </a:solidFill>
              </a:defRPr>
            </a:pPr>
            <a:r>
              <a:t>不成功のブロック</a:t>
            </a:r>
          </a:p>
          <a:p>
            <a:pPr algn="ctr">
              <a:defRPr sz="1200" b="0">
                <a:solidFill>
                  <a:srgbClr val="C62828"/>
                </a:solidFill>
              </a:defRPr>
            </a:pPr>
            <a:r>
              <a:t>血漿/BRTスタート</a:t>
            </a:r>
          </a:p>
          <a:p>
            <a:pPr algn="ctr">
              <a:defRPr sz="1200" b="0">
                <a:solidFill>
                  <a:srgbClr val="C62828"/>
                </a:solidFill>
              </a:defRPr>
            </a:pPr>
          </a:p>
          <a:p>
            <a:pPr algn="ctr">
              <a:defRPr sz="1200" b="0">
                <a:solidFill>
                  <a:srgbClr val="C62828"/>
                </a:solidFill>
              </a:defRPr>
            </a:pPr>
            <a:r>
              <a:t>高いCmax</a:t>
            </a:r>
          </a:p>
          <a:p>
            <a:pPr algn="ctr">
              <a:defRPr sz="1200" b="0">
                <a:solidFill>
                  <a:srgbClr val="C62828"/>
                </a:solidFill>
              </a:defRPr>
            </a:pPr>
            <a:r>
              <a:t>より低用量が必要な可能性</a:t>
            </a:r>
          </a:p>
        </p:txBody>
      </p:sp>
      <p:sp>
        <p:nvSpPr>
          <p:cNvPr id="14" name="Down Arrow 13"/>
          <p:cNvSpPr/>
          <p:nvPr/>
        </p:nvSpPr>
        <p:spPr>
          <a:xfrm>
            <a:off x="1828800" y="4572000"/>
            <a:ext cx="274320" cy="457200"/>
          </a:xfrm>
          <a:prstGeom prst="downArrow">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own Arrow 14"/>
          <p:cNvSpPr/>
          <p:nvPr/>
        </p:nvSpPr>
        <p:spPr>
          <a:xfrm>
            <a:off x="5486400" y="4572000"/>
            <a:ext cx="274320" cy="457200"/>
          </a:xfrm>
          <a:prstGeom prst="downArrow">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own Arrow 15"/>
          <p:cNvSpPr/>
          <p:nvPr/>
        </p:nvSpPr>
        <p:spPr>
          <a:xfrm>
            <a:off x="9144000" y="4572000"/>
            <a:ext cx="274320" cy="457200"/>
          </a:xfrm>
          <a:prstGeom prst="downArrow">
            <a:avLst/>
          </a:prstGeom>
          <a:solidFill>
            <a:srgbClr val="F44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57200" y="5212080"/>
            <a:ext cx="10972800" cy="1188720"/>
          </a:xfrm>
          <a:prstGeom prst="roundRect">
            <a:avLst/>
          </a:prstGeom>
          <a:solidFill>
            <a:srgbClr val="00697C"/>
          </a:solidFill>
          <a:ln w="19050">
            <a:solidFill>
              <a:srgbClr val="00697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defRPr>
            </a:pPr>
            <a:r>
              <a:t>ステップ4：状況依存性極量推奨</a:t>
            </a:r>
          </a:p>
          <a:p>
            <a:pPr algn="ctr">
              <a:defRPr sz="1400" b="1">
                <a:solidFill>
                  <a:srgbClr val="FFFFFF"/>
                </a:solidFill>
              </a:defRPr>
            </a:pPr>
          </a:p>
          <a:p>
            <a:pPr algn="ctr">
              <a:defRPr sz="1400" b="1">
                <a:solidFill>
                  <a:srgbClr val="FFFFFF"/>
                </a:solidFill>
              </a:defRPr>
            </a:pPr>
            <a:r>
              <a:t>予測血漿濃度プロファイルに基づく個別化されたシナリオ依存性極量</a:t>
            </a:r>
          </a:p>
        </p:txBody>
      </p:sp>
      <p:sp>
        <p:nvSpPr>
          <p:cNvPr id="18" name="TextBox 17"/>
          <p:cNvSpPr txBox="1"/>
          <p:nvPr/>
        </p:nvSpPr>
        <p:spPr>
          <a:xfrm>
            <a:off x="274320" y="1920240"/>
            <a:ext cx="2743200" cy="365760"/>
          </a:xfrm>
          <a:prstGeom prst="rect">
            <a:avLst/>
          </a:prstGeom>
          <a:noFill/>
        </p:spPr>
        <p:txBody>
          <a:bodyPr wrap="square">
            <a:spAutoFit/>
          </a:bodyPr>
          <a:lstStyle/>
          <a:p>
            <a:pPr algn="l">
              <a:defRPr sz="900" b="0">
                <a:solidFill>
                  <a:srgbClr val="9E9E9E"/>
                </a:solidFill>
              </a:defRPr>
            </a:pPr>
            <a:r>
              <a:t>ブロック種別、部位、成功確率、患者因子</a:t>
            </a:r>
          </a:p>
        </p:txBody>
      </p:sp>
      <p:sp>
        <p:nvSpPr>
          <p:cNvPr id="19" name="TextBox 18"/>
          <p:cNvSpPr txBox="1"/>
          <p:nvPr/>
        </p:nvSpPr>
        <p:spPr>
          <a:xfrm>
            <a:off x="10515600" y="4114800"/>
            <a:ext cx="1371600" cy="365760"/>
          </a:xfrm>
          <a:prstGeom prst="rect">
            <a:avLst/>
          </a:prstGeom>
          <a:noFill/>
        </p:spPr>
        <p:txBody>
          <a:bodyPr wrap="square">
            <a:spAutoFit/>
          </a:bodyPr>
          <a:lstStyle/>
          <a:p>
            <a:pPr algn="l">
              <a:defRPr sz="900" b="0">
                <a:solidFill>
                  <a:srgbClr val="9C27B0"/>
                </a:solidFill>
              </a:defRPr>
            </a:pPr>
            <a:r>
              <a:t>シミュレーション結果</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91440"/>
            <a:ext cx="11612880" cy="457200"/>
          </a:xfrm>
          <a:prstGeom prst="rect">
            <a:avLst/>
          </a:prstGeom>
          <a:noFill/>
        </p:spPr>
        <p:txBody>
          <a:bodyPr wrap="square">
            <a:spAutoFit/>
          </a:bodyPr>
          <a:lstStyle/>
          <a:p>
            <a:pPr algn="ctr">
              <a:defRPr sz="2000" b="1">
                <a:solidFill>
                  <a:srgbClr val="37474F"/>
                </a:solidFill>
              </a:defRPr>
            </a:pPr>
            <a:r>
              <a:t>図4. AIMSにおける投与経路適応型PKPDシミュレーション</a:t>
            </a:r>
          </a:p>
        </p:txBody>
      </p:sp>
      <p:sp>
        <p:nvSpPr>
          <p:cNvPr id="3" name="Rounded Rectangle 2"/>
          <p:cNvSpPr/>
          <p:nvPr/>
        </p:nvSpPr>
        <p:spPr>
          <a:xfrm>
            <a:off x="274320" y="640080"/>
            <a:ext cx="11612880" cy="5943600"/>
          </a:xfrm>
          <a:prstGeom prst="roundRect">
            <a:avLst/>
          </a:prstGeom>
          <a:solidFill>
            <a:srgbClr val="F5F5F5"/>
          </a:solidFill>
          <a:ln w="25400">
            <a:solidFill>
              <a:srgbClr val="37474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37474F"/>
                </a:solidFill>
              </a:defRPr>
            </a:pPr>
            <a:r>
              <a:t>麻酔情報管理システム（AIMS）</a:t>
            </a:r>
          </a:p>
        </p:txBody>
      </p:sp>
      <p:sp>
        <p:nvSpPr>
          <p:cNvPr id="4" name="Rounded Rectangle 3"/>
          <p:cNvSpPr/>
          <p:nvPr/>
        </p:nvSpPr>
        <p:spPr>
          <a:xfrm>
            <a:off x="548640" y="1188720"/>
            <a:ext cx="3657600" cy="1371600"/>
          </a:xfrm>
          <a:prstGeom prst="roundRect">
            <a:avLst/>
          </a:prstGeom>
          <a:solidFill>
            <a:srgbClr val="E3F2FD"/>
          </a:solidFill>
          <a:ln w="19050">
            <a:solidFill>
              <a:srgbClr val="1565C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1565C0"/>
                </a:solidFill>
              </a:defRPr>
            </a:pPr>
            <a:r>
              <a:t>薬剤投与記録</a:t>
            </a:r>
          </a:p>
          <a:p>
            <a:pPr algn="ctr">
              <a:defRPr sz="1100" b="0">
                <a:solidFill>
                  <a:srgbClr val="1565C0"/>
                </a:solidFill>
              </a:defRPr>
            </a:pPr>
          </a:p>
          <a:p>
            <a:pPr algn="ctr">
              <a:defRPr sz="1100" b="0">
                <a:solidFill>
                  <a:srgbClr val="1565C0"/>
                </a:solidFill>
              </a:defRPr>
            </a:pPr>
            <a:r>
              <a:t>投与経路：IV / 区域麻酔（ブロック種別）</a:t>
            </a:r>
          </a:p>
          <a:p>
            <a:pPr algn="ctr">
              <a:defRPr sz="1100" b="0">
                <a:solidFill>
                  <a:srgbClr val="1565C0"/>
                </a:solidFill>
              </a:defRPr>
            </a:pPr>
            <a:r>
              <a:t>薬剤：ブピバカイン 150 mg</a:t>
            </a:r>
          </a:p>
        </p:txBody>
      </p:sp>
      <p:sp>
        <p:nvSpPr>
          <p:cNvPr id="5" name="Right Arrow 4"/>
          <p:cNvSpPr/>
          <p:nvPr/>
        </p:nvSpPr>
        <p:spPr>
          <a:xfrm>
            <a:off x="4297680" y="1645920"/>
            <a:ext cx="731520" cy="274320"/>
          </a:xfrm>
          <a:prstGeom prst="rightArrow">
            <a:avLst/>
          </a:prstGeom>
          <a:solidFill>
            <a:srgbClr val="374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120640" y="1188720"/>
            <a:ext cx="3200400" cy="1371600"/>
          </a:xfrm>
          <a:prstGeom prst="roundRect">
            <a:avLst/>
          </a:prstGeom>
          <a:solidFill>
            <a:srgbClr val="FFF3E0"/>
          </a:solidFill>
          <a:ln w="19050">
            <a:solidFill>
              <a:srgbClr val="E651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E65100"/>
                </a:solidFill>
              </a:defRPr>
            </a:pPr>
            <a:r>
              <a:t>投与経路検出</a:t>
            </a:r>
          </a:p>
          <a:p>
            <a:pPr algn="ctr">
              <a:defRPr sz="1000" b="0">
                <a:solidFill>
                  <a:srgbClr val="E65100"/>
                </a:solidFill>
              </a:defRPr>
            </a:pPr>
          </a:p>
          <a:p>
            <a:pPr algn="ctr">
              <a:defRPr sz="1000" b="0">
                <a:solidFill>
                  <a:srgbClr val="E65100"/>
                </a:solidFill>
              </a:defRPr>
            </a:pPr>
            <a:r>
              <a:t>IF 経路 = IV:</a:t>
            </a:r>
          </a:p>
          <a:p>
            <a:pPr algn="ctr">
              <a:defRPr sz="1000" b="0">
                <a:solidFill>
                  <a:srgbClr val="E65100"/>
                </a:solidFill>
              </a:defRPr>
            </a:pPr>
            <a:r>
              <a:t>  → 標準 3コンパートメント</a:t>
            </a:r>
          </a:p>
          <a:p>
            <a:pPr algn="ctr">
              <a:defRPr sz="1000" b="0">
                <a:solidFill>
                  <a:srgbClr val="E65100"/>
                </a:solidFill>
              </a:defRPr>
            </a:pPr>
            <a:r>
              <a:t>IF 経路 = 区域麻酔:</a:t>
            </a:r>
          </a:p>
          <a:p>
            <a:pPr algn="ctr">
              <a:defRPr sz="1000" b="0">
                <a:solidFill>
                  <a:srgbClr val="E65100"/>
                </a:solidFill>
              </a:defRPr>
            </a:pPr>
            <a:r>
              <a:t>  → デポ增強モデル</a:t>
            </a:r>
          </a:p>
        </p:txBody>
      </p:sp>
      <p:sp>
        <p:nvSpPr>
          <p:cNvPr id="7" name="Rounded Rectangle 6"/>
          <p:cNvSpPr/>
          <p:nvPr/>
        </p:nvSpPr>
        <p:spPr>
          <a:xfrm>
            <a:off x="548640" y="2926080"/>
            <a:ext cx="3657600" cy="1645920"/>
          </a:xfrm>
          <a:prstGeom prst="roundRect">
            <a:avLst/>
          </a:prstGeom>
          <a:solidFill>
            <a:srgbClr val="E8F5E9"/>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2E7D32"/>
                </a:solidFill>
              </a:defRPr>
            </a:pPr>
            <a:r>
              <a:t>IVモデル</a:t>
            </a:r>
          </a:p>
          <a:p>
            <a:pPr algn="ctr">
              <a:defRPr sz="1100" b="0">
                <a:solidFill>
                  <a:srgbClr val="2E7D32"/>
                </a:solidFill>
              </a:defRPr>
            </a:pPr>
          </a:p>
          <a:p>
            <a:pPr algn="ctr">
              <a:defRPr sz="1100" b="0">
                <a:solidFill>
                  <a:srgbClr val="2E7D32"/>
                </a:solidFill>
              </a:defRPr>
            </a:pPr>
            <a:r>
              <a:t>3コンパートメント（血漿スタート）</a:t>
            </a:r>
          </a:p>
          <a:p>
            <a:pPr algn="ctr">
              <a:defRPr sz="1100" b="0">
                <a:solidFill>
                  <a:srgbClr val="2E7D32"/>
                </a:solidFill>
              </a:defRPr>
            </a:pPr>
            <a:r>
              <a:t>V1 → V2 (BRT) + V3 (BPT)</a:t>
            </a:r>
          </a:p>
          <a:p>
            <a:pPr algn="ctr">
              <a:defRPr sz="1100" b="0">
                <a:solidFill>
                  <a:srgbClr val="2E7D32"/>
                </a:solidFill>
              </a:defRPr>
            </a:pPr>
          </a:p>
          <a:p>
            <a:pPr algn="ctr">
              <a:defRPr sz="1100" b="0">
                <a:solidFill>
                  <a:srgbClr val="2E7D32"/>
                </a:solidFill>
              </a:defRPr>
            </a:pPr>
            <a:r>
              <a:t>標準 Marsh / Schnider / Eleveld</a:t>
            </a:r>
          </a:p>
        </p:txBody>
      </p:sp>
      <p:sp>
        <p:nvSpPr>
          <p:cNvPr id="8" name="Rounded Rectangle 7"/>
          <p:cNvSpPr/>
          <p:nvPr/>
        </p:nvSpPr>
        <p:spPr>
          <a:xfrm>
            <a:off x="4754880" y="2926080"/>
            <a:ext cx="4114800" cy="1645920"/>
          </a:xfrm>
          <a:prstGeom prst="roundRect">
            <a:avLst/>
          </a:prstGeom>
          <a:solidFill>
            <a:srgbClr val="FCE4EC"/>
          </a:solidFill>
          <a:ln w="1905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C62828"/>
                </a:solidFill>
              </a:defRPr>
            </a:pPr>
            <a:r>
              <a:t>区域麻酔モデル（投与経路適応型）</a:t>
            </a:r>
          </a:p>
          <a:p>
            <a:pPr algn="ctr">
              <a:defRPr sz="1000" b="0">
                <a:solidFill>
                  <a:srgbClr val="C62828"/>
                </a:solidFill>
              </a:defRPr>
            </a:pPr>
          </a:p>
          <a:p>
            <a:pPr algn="ctr">
              <a:defRPr sz="1000" b="0">
                <a:solidFill>
                  <a:srgbClr val="C62828"/>
                </a:solidFill>
              </a:defRPr>
            </a:pPr>
            <a:r>
              <a:t>デポ + 3コンパートメント (BPTスタート)</a:t>
            </a:r>
          </a:p>
          <a:p>
            <a:pPr algn="ctr">
              <a:defRPr sz="1000" b="0">
                <a:solidFill>
                  <a:srgbClr val="C62828"/>
                </a:solidFill>
              </a:defRPr>
            </a:pPr>
            <a:r>
              <a:t>Depot(ka, F) → V1 → V2 + V3</a:t>
            </a:r>
          </a:p>
          <a:p>
            <a:pPr algn="ctr">
              <a:defRPr sz="1000" b="0">
                <a:solidFill>
                  <a:srgbClr val="C62828"/>
                </a:solidFill>
              </a:defRPr>
            </a:pPr>
          </a:p>
          <a:p>
            <a:pPr algn="ctr">
              <a:defRPr sz="1000" b="0">
                <a:solidFill>
                  <a:srgbClr val="C62828"/>
                </a:solidFill>
              </a:defRPr>
            </a:pPr>
            <a:r>
              <a:t>ブロック種別特異的ka値</a:t>
            </a:r>
          </a:p>
          <a:p>
            <a:pPr algn="ctr">
              <a:defRPr sz="1000" b="0">
                <a:solidFill>
                  <a:srgbClr val="C62828"/>
                </a:solidFill>
              </a:defRPr>
            </a:pPr>
            <a:r>
              <a:t>(TAP, ESP, FNB, 硬膜外 等)</a:t>
            </a:r>
          </a:p>
        </p:txBody>
      </p:sp>
      <p:sp>
        <p:nvSpPr>
          <p:cNvPr id="9" name="Rounded Rectangle 8"/>
          <p:cNvSpPr/>
          <p:nvPr/>
        </p:nvSpPr>
        <p:spPr>
          <a:xfrm>
            <a:off x="9326880" y="3108960"/>
            <a:ext cx="2286000" cy="1188720"/>
          </a:xfrm>
          <a:prstGeom prst="roundRect">
            <a:avLst/>
          </a:prstGeom>
          <a:solidFill>
            <a:srgbClr val="F3E5F5"/>
          </a:solidFill>
          <a:ln w="19050">
            <a:solidFill>
              <a:srgbClr val="6A1B9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6A1B9A"/>
                </a:solidFill>
              </a:defRPr>
            </a:pPr>
            <a:r>
              <a:t>ブロック成功</a:t>
            </a:r>
          </a:p>
          <a:p>
            <a:pPr algn="ctr">
              <a:defRPr sz="1000" b="0">
                <a:solidFill>
                  <a:srgbClr val="6A1B9A"/>
                </a:solidFill>
              </a:defRPr>
            </a:pPr>
            <a:r>
              <a:t>フィードバック</a:t>
            </a:r>
          </a:p>
          <a:p>
            <a:pPr algn="ctr">
              <a:defRPr sz="1000" b="0">
                <a:solidFill>
                  <a:srgbClr val="6A1B9A"/>
                </a:solidFill>
              </a:defRPr>
            </a:pPr>
          </a:p>
          <a:p>
            <a:pPr algn="ctr">
              <a:defRPr sz="1000" b="0">
                <a:solidFill>
                  <a:srgbClr val="6A1B9A"/>
                </a:solidFill>
              </a:defRPr>
            </a:pPr>
            <a:r>
              <a:t>リアルタイムでka調整</a:t>
            </a:r>
          </a:p>
        </p:txBody>
      </p:sp>
      <p:sp>
        <p:nvSpPr>
          <p:cNvPr id="10" name="Down Arrow 9"/>
          <p:cNvSpPr/>
          <p:nvPr/>
        </p:nvSpPr>
        <p:spPr>
          <a:xfrm>
            <a:off x="2194560" y="2606040"/>
            <a:ext cx="228600" cy="320040"/>
          </a:xfrm>
          <a:prstGeom prst="downArrow">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828800" y="2606040"/>
            <a:ext cx="457200" cy="274320"/>
          </a:xfrm>
          <a:prstGeom prst="rect">
            <a:avLst/>
          </a:prstGeom>
          <a:noFill/>
        </p:spPr>
        <p:txBody>
          <a:bodyPr wrap="square">
            <a:spAutoFit/>
          </a:bodyPr>
          <a:lstStyle/>
          <a:p>
            <a:pPr algn="l">
              <a:defRPr sz="1000" b="1">
                <a:solidFill>
                  <a:srgbClr val="2E7D32"/>
                </a:solidFill>
              </a:defRPr>
            </a:pPr>
            <a:r>
              <a:t>IV</a:t>
            </a:r>
          </a:p>
        </p:txBody>
      </p:sp>
      <p:sp>
        <p:nvSpPr>
          <p:cNvPr id="12" name="Down Arrow 11"/>
          <p:cNvSpPr/>
          <p:nvPr/>
        </p:nvSpPr>
        <p:spPr>
          <a:xfrm>
            <a:off x="6675120" y="2606040"/>
            <a:ext cx="228600" cy="320040"/>
          </a:xfrm>
          <a:prstGeom prst="downArrow">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49440" y="2606040"/>
            <a:ext cx="1097280" cy="274320"/>
          </a:xfrm>
          <a:prstGeom prst="rect">
            <a:avLst/>
          </a:prstGeom>
          <a:noFill/>
        </p:spPr>
        <p:txBody>
          <a:bodyPr wrap="square">
            <a:spAutoFit/>
          </a:bodyPr>
          <a:lstStyle/>
          <a:p>
            <a:pPr algn="l">
              <a:defRPr sz="1000" b="1">
                <a:solidFill>
                  <a:srgbClr val="C62828"/>
                </a:solidFill>
              </a:defRPr>
            </a:pPr>
            <a:r>
              <a:t>区域麻酔</a:t>
            </a:r>
          </a:p>
        </p:txBody>
      </p:sp>
      <p:sp>
        <p:nvSpPr>
          <p:cNvPr id="14" name="Right Arrow 13"/>
          <p:cNvSpPr/>
          <p:nvPr/>
        </p:nvSpPr>
        <p:spPr>
          <a:xfrm>
            <a:off x="8961120" y="3566160"/>
            <a:ext cx="365760" cy="182880"/>
          </a:xfrm>
          <a:prstGeom prst="rightArrow">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48640" y="4846320"/>
            <a:ext cx="10972800" cy="1554480"/>
          </a:xfrm>
          <a:prstGeom prst="roundRect">
            <a:avLst/>
          </a:prstGeom>
          <a:solidFill>
            <a:srgbClr val="FFFFFF"/>
          </a:solidFill>
          <a:ln w="19050">
            <a:solidFill>
              <a:srgbClr val="3747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114800" y="4892040"/>
            <a:ext cx="3657600" cy="320040"/>
          </a:xfrm>
          <a:prstGeom prst="rect">
            <a:avLst/>
          </a:prstGeom>
          <a:noFill/>
        </p:spPr>
        <p:txBody>
          <a:bodyPr wrap="square">
            <a:spAutoFit/>
          </a:bodyPr>
          <a:lstStyle/>
          <a:p>
            <a:pPr algn="ctr">
              <a:defRPr sz="1400" b="1">
                <a:solidFill>
                  <a:srgbClr val="37474F"/>
                </a:solidFill>
              </a:defRPr>
            </a:pPr>
            <a:r>
              <a:t>リアルタイム AIMS ディスプレイ</a:t>
            </a:r>
          </a:p>
        </p:txBody>
      </p:sp>
      <p:sp>
        <p:nvSpPr>
          <p:cNvPr id="17" name="TextBox 16"/>
          <p:cNvSpPr txBox="1"/>
          <p:nvPr/>
        </p:nvSpPr>
        <p:spPr>
          <a:xfrm>
            <a:off x="731520" y="5212080"/>
            <a:ext cx="4114800" cy="1097280"/>
          </a:xfrm>
          <a:prstGeom prst="rect">
            <a:avLst/>
          </a:prstGeom>
          <a:noFill/>
        </p:spPr>
        <p:txBody>
          <a:bodyPr wrap="square">
            <a:spAutoFit/>
          </a:bodyPr>
          <a:lstStyle/>
          <a:p>
            <a:pPr algn="l">
              <a:defRPr sz="1000" b="0">
                <a:solidFill>
                  <a:srgbClr val="37474F"/>
                </a:solidFill>
              </a:defRPr>
            </a:pPr>
            <a:r>
              <a:t>予測血漿濃度</a:t>
            </a:r>
            <a:br/>
            <a:br/>
            <a:r>
              <a:t>--- IVモデル：急速ピーク、急速低下</a:t>
            </a:r>
            <a:br/>
            <a:r>
              <a:t>--- 区域麻酔モデル：低く遅延したCmax</a:t>
            </a:r>
            <a:br/>
            <a:r>
              <a:t>--- 毒性閾値ライン</a:t>
            </a:r>
          </a:p>
        </p:txBody>
      </p:sp>
      <p:sp>
        <p:nvSpPr>
          <p:cNvPr id="18" name="TextBox 17"/>
          <p:cNvSpPr txBox="1"/>
          <p:nvPr/>
        </p:nvSpPr>
        <p:spPr>
          <a:xfrm>
            <a:off x="5943600" y="5212080"/>
            <a:ext cx="5029200" cy="1097280"/>
          </a:xfrm>
          <a:prstGeom prst="rect">
            <a:avLst/>
          </a:prstGeom>
          <a:noFill/>
        </p:spPr>
        <p:txBody>
          <a:bodyPr wrap="square">
            <a:spAutoFit/>
          </a:bodyPr>
          <a:lstStyle/>
          <a:p>
            <a:pPr algn="l">
              <a:defRPr sz="1000" b="0">
                <a:solidFill>
                  <a:srgbClr val="37474F"/>
                </a:solidFill>
              </a:defRPr>
            </a:pPr>
            <a:r>
              <a:t>用量ガイダンスパネル</a:t>
            </a:r>
            <a:br/>
            <a:br/>
            <a:r>
              <a:t>現在用量：ブピバカイン 150 mg</a:t>
            </a:r>
            <a:br/>
            <a:r>
              <a:t>投与経路：TAPブロック（両側）</a:t>
            </a:r>
            <a:br/>
            <a:r>
              <a:t>予測Cmax：0.8 µg/mL（安全）</a:t>
            </a:r>
            <a:br/>
            <a:r>
              <a:t>残余マージン：閾値下68%</a:t>
            </a:r>
          </a:p>
        </p:txBody>
      </p:sp>
      <p:sp>
        <p:nvSpPr>
          <p:cNvPr id="19" name="Down Arrow 18"/>
          <p:cNvSpPr/>
          <p:nvPr/>
        </p:nvSpPr>
        <p:spPr>
          <a:xfrm>
            <a:off x="2194560" y="4617720"/>
            <a:ext cx="228600" cy="228600"/>
          </a:xfrm>
          <a:prstGeom prst="downArrow">
            <a:avLst/>
          </a:prstGeom>
          <a:solidFill>
            <a:srgbClr val="374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own Arrow 19"/>
          <p:cNvSpPr/>
          <p:nvPr/>
        </p:nvSpPr>
        <p:spPr>
          <a:xfrm>
            <a:off x="6675120" y="4617720"/>
            <a:ext cx="228600" cy="228600"/>
          </a:xfrm>
          <a:prstGeom prst="downArrow">
            <a:avLst/>
          </a:prstGeom>
          <a:solidFill>
            <a:srgbClr val="374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47120" cy="731520"/>
          </a:xfrm>
          <a:prstGeom prst="rect">
            <a:avLst/>
          </a:prstGeom>
          <a:noFill/>
        </p:spPr>
        <p:txBody>
          <a:bodyPr wrap="square">
            <a:spAutoFit/>
          </a:bodyPr>
          <a:lstStyle/>
          <a:p>
            <a:pPr algn="ctr">
              <a:defRPr sz="2000" b="1">
                <a:solidFill>
                  <a:srgbClr val="37474F"/>
                </a:solidFill>
              </a:defRPr>
            </a:pPr>
            <a:r>
              <a:t>表1. 区域麻酔における局所麻酔薬の状況依存性極量の枚組み</a:t>
            </a:r>
          </a:p>
        </p:txBody>
      </p:sp>
      <p:graphicFrame>
        <p:nvGraphicFramePr>
          <p:cNvPr id="3" name="Table 2"/>
          <p:cNvGraphicFramePr>
            <a:graphicFrameLocks noGrp="1"/>
          </p:cNvGraphicFramePr>
          <p:nvPr/>
        </p:nvGraphicFramePr>
        <p:xfrm>
          <a:off x="822960" y="1188720"/>
          <a:ext cx="10515600" cy="4114800"/>
        </p:xfrm>
        <a:graphic>
          <a:graphicData uri="http://schemas.openxmlformats.org/drawingml/2006/table">
            <a:tbl>
              <a:tblPr firstRow="1" bandRow="1">
                <a:tableStyleId>{5C22544A-7EE6-4342-B048-85BDC9FD1C3A}</a:tableStyleId>
              </a:tblPr>
              <a:tblGrid>
                <a:gridCol w="2926080"/>
                <a:gridCol w="2743200"/>
                <a:gridCol w="2103120"/>
                <a:gridCol w="2743200"/>
              </a:tblGrid>
              <a:tr h="685800">
                <a:tc>
                  <a:txBody>
                    <a:bodyPr/>
                    <a:lstStyle/>
                    <a:p>
                      <a:pPr algn="ctr">
                        <a:defRPr sz="1400" b="1">
                          <a:solidFill>
                            <a:srgbClr val="FFFFFF"/>
                          </a:solidFill>
                        </a:defRPr>
                      </a:pPr>
                      <a:r>
                        <a:t>シナリオ</a:t>
                      </a:r>
                    </a:p>
                  </a:txBody>
                  <a:tcPr anchor="ctr">
                    <a:solidFill>
                      <a:srgbClr val="37474F"/>
                    </a:solidFill>
                  </a:tcPr>
                </a:tc>
                <a:tc>
                  <a:txBody>
                    <a:bodyPr/>
                    <a:lstStyle/>
                    <a:p>
                      <a:pPr algn="ctr">
                        <a:defRPr sz="1400" b="1">
                          <a:solidFill>
                            <a:srgbClr val="FFFFFF"/>
                          </a:solidFill>
                        </a:defRPr>
                      </a:pPr>
                      <a:r>
                        <a:t>初期コンパートメント</a:t>
                      </a:r>
                    </a:p>
                  </a:txBody>
                  <a:tcPr anchor="ctr">
                    <a:solidFill>
                      <a:srgbClr val="37474F"/>
                    </a:solidFill>
                  </a:tcPr>
                </a:tc>
                <a:tc>
                  <a:txBody>
                    <a:bodyPr/>
                    <a:lstStyle/>
                    <a:p>
                      <a:pPr algn="ctr">
                        <a:defRPr sz="1400" b="1">
                          <a:solidFill>
                            <a:srgbClr val="FFFFFF"/>
                          </a:solidFill>
                        </a:defRPr>
                      </a:pPr>
                      <a:r>
                        <a:t>予測Cmax</a:t>
                      </a:r>
                    </a:p>
                  </a:txBody>
                  <a:tcPr anchor="ctr">
                    <a:solidFill>
                      <a:srgbClr val="37474F"/>
                    </a:solidFill>
                  </a:tcPr>
                </a:tc>
                <a:tc>
                  <a:txBody>
                    <a:bodyPr/>
                    <a:lstStyle/>
                    <a:p>
                      <a:pPr algn="ctr">
                        <a:defRPr sz="1400" b="1">
                          <a:solidFill>
                            <a:srgbClr val="FFFFFF"/>
                          </a:solidFill>
                        </a:defRPr>
                      </a:pPr>
                      <a:r>
                        <a:t>用量調整</a:t>
                      </a:r>
                    </a:p>
                  </a:txBody>
                  <a:tcPr anchor="ctr">
                    <a:solidFill>
                      <a:srgbClr val="37474F"/>
                    </a:solidFill>
                  </a:tcPr>
                </a:tc>
              </a:tr>
              <a:tr h="685800">
                <a:tc>
                  <a:txBody>
                    <a:bodyPr/>
                    <a:lstStyle/>
                    <a:p>
                      <a:pPr algn="ctr">
                        <a:defRPr sz="1200">
                          <a:solidFill>
                            <a:srgbClr val="000000"/>
                          </a:solidFill>
                        </a:defRPr>
                      </a:pPr>
                      <a:r>
                        <a:t>成功したブロック</a:t>
                      </a:r>
                    </a:p>
                    <a:p>
                      <a:pPr algn="ctr">
                        <a:defRPr sz="1200">
                          <a:solidFill>
                            <a:srgbClr val="000000"/>
                          </a:solidFill>
                        </a:defRPr>
                      </a:pPr>
                      <a:r>
                        <a:t>（神経周囲/筋膜面）</a:t>
                      </a:r>
                    </a:p>
                  </a:txBody>
                  <a:tcPr anchor="ctr">
                    <a:solidFill>
                      <a:srgbClr val="E8F5E9"/>
                    </a:solidFill>
                  </a:tcPr>
                </a:tc>
                <a:tc>
                  <a:txBody>
                    <a:bodyPr/>
                    <a:lstStyle/>
                    <a:p>
                      <a:pPr algn="ctr">
                        <a:defRPr sz="1200">
                          <a:solidFill>
                            <a:srgbClr val="000000"/>
                          </a:solidFill>
                        </a:defRPr>
                      </a:pPr>
                      <a:r>
                        <a:t>BPT（V3）</a:t>
                      </a:r>
                    </a:p>
                    <a:p>
                      <a:pPr algn="ctr">
                        <a:defRPr sz="1200">
                          <a:solidFill>
                            <a:srgbClr val="000000"/>
                          </a:solidFill>
                        </a:defRPr>
                      </a:pPr>
                      <a:r>
                        <a:t>血管乏しい組織</a:t>
                      </a:r>
                    </a:p>
                  </a:txBody>
                  <a:tcPr anchor="ctr">
                    <a:solidFill>
                      <a:srgbClr val="E8F5E9"/>
                    </a:solidFill>
                  </a:tcPr>
                </a:tc>
                <a:tc>
                  <a:txBody>
                    <a:bodyPr/>
                    <a:lstStyle/>
                    <a:p>
                      <a:pPr algn="ctr">
                        <a:defRPr sz="1200">
                          <a:solidFill>
                            <a:srgbClr val="000000"/>
                          </a:solidFill>
                        </a:defRPr>
                      </a:pPr>
                      <a:r>
                        <a:t>低値、遅延</a:t>
                      </a:r>
                    </a:p>
                  </a:txBody>
                  <a:tcPr anchor="ctr">
                    <a:solidFill>
                      <a:srgbClr val="E8F5E9"/>
                    </a:solidFill>
                  </a:tcPr>
                </a:tc>
                <a:tc>
                  <a:txBody>
                    <a:bodyPr/>
                    <a:lstStyle/>
                    <a:p>
                      <a:pPr algn="ctr">
                        <a:defRPr sz="1200">
                          <a:solidFill>
                            <a:srgbClr val="000000"/>
                          </a:solidFill>
                        </a:defRPr>
                      </a:pPr>
                      <a:r>
                        <a:t>より高用量が</a:t>
                      </a:r>
                    </a:p>
                    <a:p>
                      <a:pPr algn="ctr">
                        <a:defRPr sz="1200">
                          <a:solidFill>
                            <a:srgbClr val="000000"/>
                          </a:solidFill>
                        </a:defRPr>
                      </a:pPr>
                      <a:r>
                        <a:t>安全な可能性</a:t>
                      </a:r>
                    </a:p>
                  </a:txBody>
                  <a:tcPr anchor="ctr">
                    <a:solidFill>
                      <a:srgbClr val="E8F5E9"/>
                    </a:solidFill>
                  </a:tcPr>
                </a:tc>
              </a:tr>
              <a:tr h="685800">
                <a:tc>
                  <a:txBody>
                    <a:bodyPr/>
                    <a:lstStyle/>
                    <a:p>
                      <a:pPr algn="ctr">
                        <a:defRPr sz="1200">
                          <a:solidFill>
                            <a:srgbClr val="000000"/>
                          </a:solidFill>
                        </a:defRPr>
                      </a:pPr>
                      <a:r>
                        <a:t>部分的ブロック</a:t>
                      </a:r>
                    </a:p>
                  </a:txBody>
                  <a:tcPr anchor="ctr">
                    <a:solidFill>
                      <a:srgbClr val="FFF3E0"/>
                    </a:solidFill>
                  </a:tcPr>
                </a:tc>
                <a:tc>
                  <a:txBody>
                    <a:bodyPr/>
                    <a:lstStyle/>
                    <a:p>
                      <a:pPr algn="ctr">
                        <a:defRPr sz="1200">
                          <a:solidFill>
                            <a:srgbClr val="000000"/>
                          </a:solidFill>
                        </a:defRPr>
                      </a:pPr>
                      <a:r>
                        <a:t>混合</a:t>
                      </a:r>
                    </a:p>
                    <a:p>
                      <a:pPr algn="ctr">
                        <a:defRPr sz="1200">
                          <a:solidFill>
                            <a:srgbClr val="000000"/>
                          </a:solidFill>
                        </a:defRPr>
                      </a:pPr>
                      <a:r>
                        <a:t>（BPT + BRT/血漿）</a:t>
                      </a:r>
                    </a:p>
                  </a:txBody>
                  <a:tcPr anchor="ctr">
                    <a:solidFill>
                      <a:srgbClr val="FFF3E0"/>
                    </a:solidFill>
                  </a:tcPr>
                </a:tc>
                <a:tc>
                  <a:txBody>
                    <a:bodyPr/>
                    <a:lstStyle/>
                    <a:p>
                      <a:pPr algn="ctr">
                        <a:defRPr sz="1200">
                          <a:solidFill>
                            <a:srgbClr val="000000"/>
                          </a:solidFill>
                        </a:defRPr>
                      </a:pPr>
                      <a:r>
                        <a:t>中間</a:t>
                      </a:r>
                    </a:p>
                  </a:txBody>
                  <a:tcPr anchor="ctr">
                    <a:solidFill>
                      <a:srgbClr val="FFF3E0"/>
                    </a:solidFill>
                  </a:tcPr>
                </a:tc>
                <a:tc>
                  <a:txBody>
                    <a:bodyPr/>
                    <a:lstStyle/>
                    <a:p>
                      <a:pPr algn="ctr">
                        <a:defRPr sz="1200">
                          <a:solidFill>
                            <a:srgbClr val="000000"/>
                          </a:solidFill>
                        </a:defRPr>
                      </a:pPr>
                      <a:r>
                        <a:t>標準的極量</a:t>
                      </a:r>
                    </a:p>
                    <a:p>
                      <a:pPr algn="ctr">
                        <a:defRPr sz="1200">
                          <a:solidFill>
                            <a:srgbClr val="000000"/>
                          </a:solidFill>
                        </a:defRPr>
                      </a:pPr>
                      <a:r>
                        <a:t>が適用</a:t>
                      </a:r>
                    </a:p>
                  </a:txBody>
                  <a:tcPr anchor="ctr">
                    <a:solidFill>
                      <a:srgbClr val="FFF3E0"/>
                    </a:solidFill>
                  </a:tcPr>
                </a:tc>
              </a:tr>
              <a:tr h="685800">
                <a:tc>
                  <a:txBody>
                    <a:bodyPr/>
                    <a:lstStyle/>
                    <a:p>
                      <a:pPr algn="ctr">
                        <a:defRPr sz="1200">
                          <a:solidFill>
                            <a:srgbClr val="000000"/>
                          </a:solidFill>
                        </a:defRPr>
                      </a:pPr>
                      <a:r>
                        <a:t>不成功のブロック</a:t>
                      </a:r>
                    </a:p>
                    <a:p>
                      <a:pPr algn="ctr">
                        <a:defRPr sz="1200">
                          <a:solidFill>
                            <a:srgbClr val="000000"/>
                          </a:solidFill>
                        </a:defRPr>
                      </a:pPr>
                      <a:r>
                        <a:t>（組織ミスプレイスメント）</a:t>
                      </a:r>
                    </a:p>
                  </a:txBody>
                  <a:tcPr anchor="ctr">
                    <a:solidFill>
                      <a:srgbClr val="FCE4EC"/>
                    </a:solidFill>
                  </a:tcPr>
                </a:tc>
                <a:tc>
                  <a:txBody>
                    <a:bodyPr/>
                    <a:lstStyle/>
                    <a:p>
                      <a:pPr algn="ctr">
                        <a:defRPr sz="1200">
                          <a:solidFill>
                            <a:srgbClr val="000000"/>
                          </a:solidFill>
                        </a:defRPr>
                      </a:pPr>
                      <a:r>
                        <a:t>BRT（V2）</a:t>
                      </a:r>
                    </a:p>
                    <a:p>
                      <a:pPr algn="ctr">
                        <a:defRPr sz="1200">
                          <a:solidFill>
                            <a:srgbClr val="000000"/>
                          </a:solidFill>
                        </a:defRPr>
                      </a:pPr>
                      <a:r>
                        <a:t>血管豊富組織</a:t>
                      </a:r>
                    </a:p>
                  </a:txBody>
                  <a:tcPr anchor="ctr">
                    <a:solidFill>
                      <a:srgbClr val="FCE4EC"/>
                    </a:solidFill>
                  </a:tcPr>
                </a:tc>
                <a:tc>
                  <a:txBody>
                    <a:bodyPr/>
                    <a:lstStyle/>
                    <a:p>
                      <a:pPr algn="ctr">
                        <a:defRPr sz="1200">
                          <a:solidFill>
                            <a:srgbClr val="000000"/>
                          </a:solidFill>
                        </a:defRPr>
                      </a:pPr>
                      <a:r>
                        <a:t>中等度～高値、</a:t>
                      </a:r>
                    </a:p>
                    <a:p>
                      <a:pPr algn="ctr">
                        <a:defRPr sz="1200">
                          <a:solidFill>
                            <a:srgbClr val="000000"/>
                          </a:solidFill>
                        </a:defRPr>
                      </a:pPr>
                      <a:r>
                        <a:t>早期</a:t>
                      </a:r>
                    </a:p>
                  </a:txBody>
                  <a:tcPr anchor="ctr">
                    <a:solidFill>
                      <a:srgbClr val="FCE4EC"/>
                    </a:solidFill>
                  </a:tcPr>
                </a:tc>
                <a:tc>
                  <a:txBody>
                    <a:bodyPr/>
                    <a:lstStyle/>
                    <a:p>
                      <a:pPr algn="ctr">
                        <a:defRPr sz="1200">
                          <a:solidFill>
                            <a:srgbClr val="000000"/>
                          </a:solidFill>
                        </a:defRPr>
                      </a:pPr>
                      <a:r>
                        <a:t>より低用量が</a:t>
                      </a:r>
                    </a:p>
                    <a:p>
                      <a:pPr algn="ctr">
                        <a:defRPr sz="1200">
                          <a:solidFill>
                            <a:srgbClr val="000000"/>
                          </a:solidFill>
                        </a:defRPr>
                      </a:pPr>
                      <a:r>
                        <a:t>必要な可能性</a:t>
                      </a:r>
                    </a:p>
                  </a:txBody>
                  <a:tcPr anchor="ctr">
                    <a:solidFill>
                      <a:srgbClr val="FCE4EC"/>
                    </a:solidFill>
                  </a:tcPr>
                </a:tc>
              </a:tr>
              <a:tr h="685800">
                <a:tc>
                  <a:txBody>
                    <a:bodyPr/>
                    <a:lstStyle/>
                    <a:p>
                      <a:pPr algn="ctr">
                        <a:defRPr sz="1200">
                          <a:solidFill>
                            <a:srgbClr val="000000"/>
                          </a:solidFill>
                        </a:defRPr>
                      </a:pPr>
                      <a:r>
                        <a:t>血管内注入</a:t>
                      </a:r>
                    </a:p>
                  </a:txBody>
                  <a:tcPr anchor="ctr">
                    <a:solidFill>
                      <a:srgbClr val="FFCDD2"/>
                    </a:solidFill>
                  </a:tcPr>
                </a:tc>
                <a:tc>
                  <a:txBody>
                    <a:bodyPr/>
                    <a:lstStyle/>
                    <a:p>
                      <a:pPr algn="ctr">
                        <a:defRPr sz="1200">
                          <a:solidFill>
                            <a:srgbClr val="000000"/>
                          </a:solidFill>
                        </a:defRPr>
                      </a:pPr>
                      <a:r>
                        <a:t>血漿（V1）</a:t>
                      </a:r>
                    </a:p>
                  </a:txBody>
                  <a:tcPr anchor="ctr">
                    <a:solidFill>
                      <a:srgbClr val="FFCDD2"/>
                    </a:solidFill>
                  </a:tcPr>
                </a:tc>
                <a:tc>
                  <a:txBody>
                    <a:bodyPr/>
                    <a:lstStyle/>
                    <a:p>
                      <a:pPr algn="ctr">
                        <a:defRPr sz="1200">
                          <a:solidFill>
                            <a:srgbClr val="000000"/>
                          </a:solidFill>
                        </a:defRPr>
                      </a:pPr>
                      <a:r>
                        <a:t>非常に高値、</a:t>
                      </a:r>
                    </a:p>
                    <a:p>
                      <a:pPr algn="ctr">
                        <a:defRPr sz="1200">
                          <a:solidFill>
                            <a:srgbClr val="000000"/>
                          </a:solidFill>
                        </a:defRPr>
                      </a:pPr>
                      <a:r>
                        <a:t>即時</a:t>
                      </a:r>
                    </a:p>
                  </a:txBody>
                  <a:tcPr anchor="ctr">
                    <a:solidFill>
                      <a:srgbClr val="FFCDD2"/>
                    </a:solidFill>
                  </a:tcPr>
                </a:tc>
                <a:tc>
                  <a:txBody>
                    <a:bodyPr/>
                    <a:lstStyle/>
                    <a:p>
                      <a:pPr algn="ctr">
                        <a:defRPr sz="1200">
                          <a:solidFill>
                            <a:srgbClr val="000000"/>
                          </a:solidFill>
                        </a:defRPr>
                      </a:pPr>
                      <a:r>
                        <a:t>従来のIV極量</a:t>
                      </a:r>
                    </a:p>
                    <a:p>
                      <a:pPr algn="ctr">
                        <a:defRPr sz="1200">
                          <a:solidFill>
                            <a:srgbClr val="000000"/>
                          </a:solidFill>
                        </a:defRPr>
                      </a:pPr>
                      <a:r>
                        <a:t>が適用</a:t>
                      </a:r>
                    </a:p>
                  </a:txBody>
                  <a:tcPr anchor="ctr">
                    <a:solidFill>
                      <a:srgbClr val="FFCDD2"/>
                    </a:solidFill>
                  </a:tcPr>
                </a:tc>
              </a:tr>
              <a:tr h="685800">
                <a:tc>
                  <a:txBody>
                    <a:bodyPr/>
                    <a:lstStyle/>
                    <a:p/>
                  </a:txBody>
                  <a:tcPr/>
                </a:tc>
                <a:tc>
                  <a:txBody>
                    <a:bodyPr/>
                    <a:lstStyle/>
                    <a:p/>
                  </a:txBody>
                  <a:tcPr/>
                </a:tc>
                <a:tc>
                  <a:txBody>
                    <a:bodyPr/>
                    <a:lstStyle/>
                    <a:p/>
                  </a:txBody>
                  <a:tcPr/>
                </a:tc>
                <a:tc>
                  <a:txBody>
                    <a:bodyPr/>
                    <a:lstStyle/>
                    <a:p/>
                  </a:txBody>
                  <a:tcPr/>
                </a:tc>
              </a:tr>
            </a:tbl>
          </a:graphicData>
        </a:graphic>
      </p:graphicFrame>
      <p:sp>
        <p:nvSpPr>
          <p:cNvPr id="4" name="TextBox 3"/>
          <p:cNvSpPr txBox="1"/>
          <p:nvPr/>
        </p:nvSpPr>
        <p:spPr>
          <a:xfrm>
            <a:off x="822960" y="5486400"/>
            <a:ext cx="10515600" cy="640080"/>
          </a:xfrm>
          <a:prstGeom prst="rect">
            <a:avLst/>
          </a:prstGeom>
          <a:noFill/>
        </p:spPr>
        <p:txBody>
          <a:bodyPr wrap="square">
            <a:spAutoFit/>
          </a:bodyPr>
          <a:lstStyle/>
          <a:p>
            <a:pPr algn="l">
              <a:defRPr sz="1000" b="0">
                <a:solidFill>
                  <a:srgbClr val="9E9E9E"/>
                </a:solidFill>
              </a:defRPr>
            </a:pPr>
            <a:r>
              <a:t>注：脊髄くも膜下麻酔（脊椎麻酔）はCSF薬物動態の独自性、少量投与、および主に単回</a:t>
            </a:r>
            <a:br/>
            <a:r>
              <a:t>投与である手技の性質から、本枠組みから除外した。</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