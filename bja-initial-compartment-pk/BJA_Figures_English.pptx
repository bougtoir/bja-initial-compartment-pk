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474F"/>
                </a:solidFill>
              </a:defRPr>
            </a:pPr>
            <a:r>
              <a:t>Figure 1. Comparison of Compartment Models for Three Clinical Scenarios</a:t>
            </a:r>
          </a:p>
        </p:txBody>
      </p:sp>
      <p:pic>
        <p:nvPicPr>
          <p:cNvPr id="3" name="Picture 2" descr="figure1_compartmen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7474F"/>
                </a:solidFill>
              </a:defRPr>
            </a:pPr>
            <a:r>
              <a:t>(A) Traditional IV model  |  (B) Successful regional block (BPT start)  |  (C) Failed block / Intravascular (Plasma/BRT start)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474F"/>
                </a:solidFill>
              </a:defRPr>
            </a:pPr>
            <a:r>
              <a:t>Figure 2. Simulated Plasma Concentration-Time Profiles</a:t>
            </a:r>
            <a:br/>
            <a:r>
              <a:t>by Initial Compartment of Drug Deposition</a:t>
            </a:r>
          </a:p>
        </p:txBody>
      </p:sp>
      <p:pic>
        <p:nvPicPr>
          <p:cNvPr id="3" name="Picture 2" descr="figure2_pk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183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474F"/>
                </a:solidFill>
              </a:defRPr>
            </a:pPr>
            <a:r>
              <a:t>Figure 3. Proposed PBPK-Based Workflow for Maximum Dose Reassessment</a:t>
            </a:r>
            <a:br/>
            <a:r>
              <a:t>in Regional Anaesthesia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926080" cy="914400"/>
          </a:xfrm>
          <a:prstGeom prst="roundRect">
            <a:avLst/>
          </a:prstGeom>
          <a:solidFill>
            <a:srgbClr val="5C6BC0"/>
          </a:solidFill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1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Clinical Assessment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474720" y="1325880"/>
            <a:ext cx="640080" cy="27432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06240" y="1097280"/>
            <a:ext cx="2926080" cy="914400"/>
          </a:xfrm>
          <a:prstGeom prst="roundRect">
            <a:avLst/>
          </a:prstGeom>
          <a:solidFill>
            <a:srgbClr val="FF980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2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Initial Compartment Selection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223760" y="1325880"/>
            <a:ext cx="640080" cy="274320"/>
          </a:xfrm>
          <a:prstGeom prst="rightArrow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55279" y="1097280"/>
            <a:ext cx="2926080" cy="914400"/>
          </a:xfrm>
          <a:prstGeom prst="roundRect">
            <a:avLst/>
          </a:prstGeom>
          <a:solidFill>
            <a:srgbClr val="9C27B0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3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PBPK Simulation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(PK-Sim / MoBi)</a:t>
            </a:r>
          </a:p>
        </p:txBody>
      </p:sp>
      <p:sp>
        <p:nvSpPr>
          <p:cNvPr id="8" name="Down Arrow 7"/>
          <p:cNvSpPr/>
          <p:nvPr/>
        </p:nvSpPr>
        <p:spPr>
          <a:xfrm>
            <a:off x="1828800" y="2286000"/>
            <a:ext cx="274320" cy="457200"/>
          </a:xfrm>
          <a:prstGeom prst="downArrow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5486400" y="2286000"/>
            <a:ext cx="274320" cy="457200"/>
          </a:xfrm>
          <a:prstGeom prst="downArrow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9144000" y="2286000"/>
            <a:ext cx="274320" cy="457200"/>
          </a:xfrm>
          <a:prstGeom prst="downArrow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4320" y="2926080"/>
            <a:ext cx="3200400" cy="13716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E7D32"/>
                </a:solidFill>
              </a:defRPr>
            </a:pPr>
            <a:r>
              <a:t>Successful Block</a:t>
            </a:r>
          </a:p>
          <a:p>
            <a:pPr algn="ctr">
              <a:defRPr sz="1200" b="0">
                <a:solidFill>
                  <a:srgbClr val="2E7D32"/>
                </a:solidFill>
              </a:defRPr>
            </a:pPr>
            <a:r>
              <a:t>BPT Start</a:t>
            </a:r>
          </a:p>
          <a:p>
            <a:pPr algn="ctr">
              <a:defRPr sz="1200" b="0">
                <a:solidFill>
                  <a:srgbClr val="2E7D32"/>
                </a:solidFill>
              </a:defRPr>
            </a:pPr>
          </a:p>
          <a:p>
            <a:pPr algn="ctr">
              <a:defRPr sz="1200" b="0">
                <a:solidFill>
                  <a:srgbClr val="2E7D32"/>
                </a:solidFill>
              </a:defRPr>
            </a:pPr>
            <a:r>
              <a:t>Lower Cmax</a:t>
            </a:r>
          </a:p>
          <a:p>
            <a:pPr algn="ctr">
              <a:defRPr sz="1200" b="0">
                <a:solidFill>
                  <a:srgbClr val="2E7D32"/>
                </a:solidFill>
              </a:defRPr>
            </a:pPr>
            <a:r>
              <a:t>Higher safe dose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2926080"/>
            <a:ext cx="3200400" cy="13716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E65100"/>
                </a:solidFill>
              </a:defRPr>
            </a:pPr>
            <a:r>
              <a:t>Partial Block</a:t>
            </a:r>
          </a:p>
          <a:p>
            <a:pPr algn="ctr">
              <a:defRPr sz="1200" b="0">
                <a:solidFill>
                  <a:srgbClr val="E65100"/>
                </a:solidFill>
              </a:defRPr>
            </a:pPr>
            <a:r>
              <a:t>Mixed Start</a:t>
            </a:r>
          </a:p>
          <a:p>
            <a:pPr algn="ctr">
              <a:defRPr sz="1200" b="0">
                <a:solidFill>
                  <a:srgbClr val="E65100"/>
                </a:solidFill>
              </a:defRPr>
            </a:pPr>
          </a:p>
          <a:p>
            <a:pPr algn="ctr">
              <a:defRPr sz="1200" b="0">
                <a:solidFill>
                  <a:srgbClr val="E65100"/>
                </a:solidFill>
              </a:defRPr>
            </a:pPr>
            <a:r>
              <a:t>Intermediate Cmax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926080"/>
            <a:ext cx="3200400" cy="1371600"/>
          </a:xfrm>
          <a:prstGeom prst="roundRect">
            <a:avLst/>
          </a:prstGeom>
          <a:solidFill>
            <a:srgbClr val="FCE4EC"/>
          </a:solidFill>
          <a:ln w="19050">
            <a:solidFill>
              <a:srgbClr val="F44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C62828"/>
                </a:solidFill>
              </a:defRPr>
            </a:pPr>
            <a:r>
              <a:t>Failed Block</a:t>
            </a:r>
          </a:p>
          <a:p>
            <a:pPr algn="ctr">
              <a:defRPr sz="1200" b="0">
                <a:solidFill>
                  <a:srgbClr val="C62828"/>
                </a:solidFill>
              </a:defRPr>
            </a:pPr>
            <a:r>
              <a:t>Plasma/BRT Start</a:t>
            </a:r>
          </a:p>
          <a:p>
            <a:pPr algn="ctr">
              <a:defRPr sz="1200" b="0">
                <a:solidFill>
                  <a:srgbClr val="C62828"/>
                </a:solidFill>
              </a:defRPr>
            </a:pPr>
          </a:p>
          <a:p>
            <a:pPr algn="ctr">
              <a:defRPr sz="1200" b="0">
                <a:solidFill>
                  <a:srgbClr val="C62828"/>
                </a:solidFill>
              </a:defRPr>
            </a:pPr>
            <a:r>
              <a:t>Higher Cmax</a:t>
            </a:r>
          </a:p>
          <a:p>
            <a:pPr algn="ctr">
              <a:defRPr sz="1200" b="0">
                <a:solidFill>
                  <a:srgbClr val="C62828"/>
                </a:solidFill>
              </a:defRPr>
            </a:pPr>
            <a:r>
              <a:t>Lower safe dose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828800" y="4480560"/>
            <a:ext cx="274320" cy="457200"/>
          </a:xfrm>
          <a:prstGeom prst="downArrow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>
            <a:off x="5486400" y="4480560"/>
            <a:ext cx="274320" cy="457200"/>
          </a:xfrm>
          <a:prstGeom prst="downArrow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9144000" y="4480560"/>
            <a:ext cx="274320" cy="457200"/>
          </a:xfrm>
          <a:prstGeom prst="downArrow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5120640"/>
            <a:ext cx="10972800" cy="1097280"/>
          </a:xfrm>
          <a:prstGeom prst="roundRect">
            <a:avLst/>
          </a:prstGeom>
          <a:solidFill>
            <a:srgbClr val="00697C"/>
          </a:solidFill>
          <a:ln w="19050">
            <a:solidFill>
              <a:srgbClr val="0069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Step 4: Context-Sensitive Maximum Dose Recommendation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Individualised, scenario-dependent maximum dose based on predicted plasma concentration profile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E9E9E"/>
                </a:solidFill>
              </a:defRPr>
            </a:pPr>
            <a:r>
              <a:t>Block type, site, success probability, patient factors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4114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27B0"/>
                </a:solidFill>
              </a:defRPr>
            </a:pPr>
            <a:r>
              <a:t>Simulation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474F"/>
                </a:solidFill>
              </a:defRPr>
            </a:pPr>
            <a:r>
              <a:t>Figure 4. Route-Adaptive PKPD Simulation in AIMS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640080"/>
            <a:ext cx="11612880" cy="59436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7474F"/>
                </a:solidFill>
              </a:defRPr>
            </a:pPr>
            <a:r>
              <a:t>Anaesthesia Information Management System (AIMS)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657600" cy="13716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1565C0"/>
                </a:solidFill>
              </a:defRPr>
            </a:pPr>
            <a:r>
              <a:t>Drug Administration Record</a:t>
            </a:r>
          </a:p>
          <a:p>
            <a:pPr algn="ctr">
              <a:defRPr sz="1100" b="0">
                <a:solidFill>
                  <a:srgbClr val="1565C0"/>
                </a:solidFill>
              </a:defRPr>
            </a:pPr>
          </a:p>
          <a:p>
            <a:pPr algn="ctr">
              <a:defRPr sz="1100" b="0">
                <a:solidFill>
                  <a:srgbClr val="1565C0"/>
                </a:solidFill>
              </a:defRPr>
            </a:pPr>
            <a:r>
              <a:t>Route: IV / Regional (block type)</a:t>
            </a:r>
          </a:p>
          <a:p>
            <a:pPr algn="ctr">
              <a:defRPr sz="1100" b="0">
                <a:solidFill>
                  <a:srgbClr val="1565C0"/>
                </a:solidFill>
              </a:defRPr>
            </a:pPr>
            <a:r>
              <a:t>Drug: Bupivacaine 150 mg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297680" y="1645920"/>
            <a:ext cx="731520" cy="274320"/>
          </a:xfrm>
          <a:prstGeom prst="rightArrow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20640" y="1188720"/>
            <a:ext cx="3200400" cy="13716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E65100"/>
                </a:solidFill>
              </a:defRPr>
            </a:pPr>
            <a:r>
              <a:t>Route Detection</a:t>
            </a:r>
          </a:p>
          <a:p>
            <a:pPr algn="ctr">
              <a:defRPr sz="1000" b="0">
                <a:solidFill>
                  <a:srgbClr val="E65100"/>
                </a:solidFill>
              </a:defRPr>
            </a:pPr>
          </a:p>
          <a:p>
            <a:pPr algn="ctr">
              <a:defRPr sz="1000" b="0">
                <a:solidFill>
                  <a:srgbClr val="E65100"/>
                </a:solidFill>
              </a:defRPr>
            </a:pPr>
            <a:r>
              <a:t>IF route = IV:</a:t>
            </a:r>
          </a:p>
          <a:p>
            <a:pPr algn="ctr">
              <a:defRPr sz="1000" b="0">
                <a:solidFill>
                  <a:srgbClr val="E65100"/>
                </a:solidFill>
              </a:defRPr>
            </a:pPr>
            <a:r>
              <a:t>  -&gt; Standard 3-compartment</a:t>
            </a:r>
          </a:p>
          <a:p>
            <a:pPr algn="ctr">
              <a:defRPr sz="1000" b="0">
                <a:solidFill>
                  <a:srgbClr val="E65100"/>
                </a:solidFill>
              </a:defRPr>
            </a:pPr>
            <a:r>
              <a:t>IF route = Regional:</a:t>
            </a:r>
          </a:p>
          <a:p>
            <a:pPr algn="ctr">
              <a:defRPr sz="1000" b="0">
                <a:solidFill>
                  <a:srgbClr val="E65100"/>
                </a:solidFill>
              </a:defRPr>
            </a:pPr>
            <a:r>
              <a:t>  -&gt; Depot-augmented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26080"/>
            <a:ext cx="3657600" cy="16459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2E7D32"/>
                </a:solidFill>
              </a:defRPr>
            </a:pPr>
            <a:r>
              <a:t>IV Model</a:t>
            </a:r>
          </a:p>
          <a:p>
            <a:pPr algn="ctr">
              <a:defRPr sz="1100" b="0">
                <a:solidFill>
                  <a:srgbClr val="2E7D32"/>
                </a:solidFill>
              </a:defRPr>
            </a:pPr>
          </a:p>
          <a:p>
            <a:pPr algn="ctr">
              <a:defRPr sz="1100" b="0">
                <a:solidFill>
                  <a:srgbClr val="2E7D32"/>
                </a:solidFill>
              </a:defRPr>
            </a:pPr>
            <a:r>
              <a:t>3-Compartment (Plasma start)</a:t>
            </a:r>
          </a:p>
          <a:p>
            <a:pPr algn="ctr">
              <a:defRPr sz="1100" b="0">
                <a:solidFill>
                  <a:srgbClr val="2E7D32"/>
                </a:solidFill>
              </a:defRPr>
            </a:pPr>
            <a:r>
              <a:t>V1 -&gt; V2 (BRT) + V3 (BPT)</a:t>
            </a:r>
          </a:p>
          <a:p>
            <a:pPr algn="ctr">
              <a:defRPr sz="1100" b="0">
                <a:solidFill>
                  <a:srgbClr val="2E7D32"/>
                </a:solidFill>
              </a:defRPr>
            </a:pPr>
          </a:p>
          <a:p>
            <a:pPr algn="ctr">
              <a:defRPr sz="1100" b="0">
                <a:solidFill>
                  <a:srgbClr val="2E7D32"/>
                </a:solidFill>
              </a:defRPr>
            </a:pPr>
            <a:r>
              <a:t>Standard Marsh / Schnider / Eleveld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926080"/>
            <a:ext cx="4114800" cy="1645920"/>
          </a:xfrm>
          <a:prstGeom prst="roundRect">
            <a:avLst/>
          </a:prstGeom>
          <a:solidFill>
            <a:srgbClr val="FCE4EC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C62828"/>
                </a:solidFill>
              </a:defRPr>
            </a:pPr>
            <a:r>
              <a:t>Regional Model (Route-Adaptive)</a:t>
            </a:r>
          </a:p>
          <a:p>
            <a:pPr algn="ctr">
              <a:defRPr sz="1000" b="0">
                <a:solidFill>
                  <a:srgbClr val="C62828"/>
                </a:solidFill>
              </a:defRPr>
            </a:pPr>
          </a:p>
          <a:p>
            <a:pPr algn="ctr">
              <a:defRPr sz="1000" b="0">
                <a:solidFill>
                  <a:srgbClr val="C62828"/>
                </a:solidFill>
              </a:defRPr>
            </a:pPr>
            <a:r>
              <a:t>Depot + 3-Compartment (BPT start)</a:t>
            </a:r>
          </a:p>
          <a:p>
            <a:pPr algn="ctr">
              <a:defRPr sz="1000" b="0">
                <a:solidFill>
                  <a:srgbClr val="C62828"/>
                </a:solidFill>
              </a:defRPr>
            </a:pPr>
            <a:r>
              <a:t>Depot(ka, F) -&gt; V1 -&gt; V2 + V3</a:t>
            </a:r>
          </a:p>
          <a:p>
            <a:pPr algn="ctr">
              <a:defRPr sz="1000" b="0">
                <a:solidFill>
                  <a:srgbClr val="C62828"/>
                </a:solidFill>
              </a:defRPr>
            </a:pPr>
          </a:p>
          <a:p>
            <a:pPr algn="ctr">
              <a:defRPr sz="1000" b="0">
                <a:solidFill>
                  <a:srgbClr val="C62828"/>
                </a:solidFill>
              </a:defRPr>
            </a:pPr>
            <a:r>
              <a:t>Block-type-specific ka values</a:t>
            </a:r>
          </a:p>
          <a:p>
            <a:pPr algn="ctr">
              <a:defRPr sz="1000" b="0">
                <a:solidFill>
                  <a:srgbClr val="C62828"/>
                </a:solidFill>
              </a:defRPr>
            </a:pPr>
            <a:r>
              <a:t>(TAP, ESP, FNB, Epidural, etc.)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3108960"/>
            <a:ext cx="2286000" cy="118872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6A1B9A"/>
                </a:solidFill>
              </a:defRPr>
            </a:pPr>
            <a:r>
              <a:t>Block Success</a:t>
            </a:r>
          </a:p>
          <a:p>
            <a:pPr algn="ctr">
              <a:defRPr sz="1000" b="0">
                <a:solidFill>
                  <a:srgbClr val="6A1B9A"/>
                </a:solidFill>
              </a:defRPr>
            </a:pPr>
            <a:r>
              <a:t>Feedback</a:t>
            </a:r>
          </a:p>
          <a:p>
            <a:pPr algn="ctr">
              <a:defRPr sz="1000" b="0">
                <a:solidFill>
                  <a:srgbClr val="6A1B9A"/>
                </a:solidFill>
              </a:defRPr>
            </a:pPr>
          </a:p>
          <a:p>
            <a:pPr algn="ctr">
              <a:defRPr sz="1000" b="0">
                <a:solidFill>
                  <a:srgbClr val="6A1B9A"/>
                </a:solidFill>
              </a:defRPr>
            </a:pPr>
            <a:r>
              <a:t>Adjust ka in real time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194560" y="2606040"/>
            <a:ext cx="228600" cy="320040"/>
          </a:xfrm>
          <a:prstGeom prst="down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26060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7D32"/>
                </a:solidFill>
              </a:defRPr>
            </a:pPr>
            <a:r>
              <a:t>IV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675120" y="2606040"/>
            <a:ext cx="228600" cy="320040"/>
          </a:xfrm>
          <a:prstGeom prst="downArrow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6060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62828"/>
                </a:solidFill>
              </a:defRPr>
            </a:pPr>
            <a:r>
              <a:t>Regional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961120" y="3566160"/>
            <a:ext cx="365760" cy="182880"/>
          </a:xfrm>
          <a:prstGeom prst="rightArrow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846320"/>
            <a:ext cx="1097280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4892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7474F"/>
                </a:solidFill>
              </a:defRPr>
            </a:pPr>
            <a:r>
              <a:t>Real-Time AIMS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74F"/>
                </a:solidFill>
              </a:defRPr>
            </a:pPr>
            <a:r>
              <a:t>Predicted Plasma Concentration</a:t>
            </a:r>
            <a:br/>
            <a:br/>
            <a:r>
              <a:t>--- IV model: rapid peak, fast decline</a:t>
            </a:r>
            <a:br/>
            <a:r>
              <a:t>--- Regional model: low, delayed Cmax</a:t>
            </a:r>
            <a:br/>
            <a:r>
              <a:t>--- Toxicity threshold 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52120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74F"/>
                </a:solidFill>
              </a:defRPr>
            </a:pPr>
            <a:r>
              <a:t>Dose Guidance Panel</a:t>
            </a:r>
            <a:br/>
            <a:br/>
            <a:r>
              <a:t>Current dose: 150 mg bupivacaine</a:t>
            </a:r>
            <a:br/>
            <a:r>
              <a:t>Route: TAP block (bilateral)</a:t>
            </a:r>
            <a:br/>
            <a:r>
              <a:t>Predicted Cmax: 0.8 ug/mL (safe)</a:t>
            </a:r>
            <a:br/>
            <a:r>
              <a:t>Remaining margin: 68% below threshold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2194560" y="4617720"/>
            <a:ext cx="228600" cy="228600"/>
          </a:xfrm>
          <a:prstGeom prst="downArrow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6675120" y="4617720"/>
            <a:ext cx="228600" cy="228600"/>
          </a:xfrm>
          <a:prstGeom prst="downArrow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7474F"/>
                </a:solidFill>
              </a:defRPr>
            </a:pPr>
            <a:r>
              <a:t>Table 1. Proposed Context-Sensitive Maximum Dose Framework</a:t>
            </a:r>
            <a:br/>
            <a:r>
              <a:t>for Local Anaesthetics in Regional Anaesthesia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188720"/>
          <a:ext cx="10515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103120"/>
                <a:gridCol w="274320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Initial Compartment</a:t>
                      </a:r>
                    </a:p>
                  </a:txBody>
                  <a:tcPr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Expected Cmax</a:t>
                      </a:r>
                    </a:p>
                  </a:txBody>
                  <a:tcPr anchor="ctr">
                    <a:solidFill>
                      <a:srgbClr val="37474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Dose Adjustment</a:t>
                      </a:r>
                    </a:p>
                  </a:txBody>
                  <a:tcPr anchor="ctr">
                    <a:solidFill>
                      <a:srgbClr val="37474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Successful block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(perineural / fascial)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BPT (V3)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Vessel-poor tissue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Low, delayed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Higher dose may be safe</a:t>
                      </a:r>
                    </a:p>
                  </a:txBody>
                  <a:tcPr anchor="ctr">
                    <a:solidFill>
                      <a:srgbClr val="E8F5E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Partial block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Mixed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(BPT + BRT / Plasma)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Intermediate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Standard dose limit applies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Failed block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(tissue misplacement)</a:t>
                      </a:r>
                    </a:p>
                  </a:txBody>
                  <a:tcPr anchor="ctr">
                    <a:solidFill>
                      <a:srgbClr val="FCE4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BRT (V2)</a:t>
                      </a:r>
                    </a:p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Vessel-rich tissue</a:t>
                      </a:r>
                    </a:p>
                  </a:txBody>
                  <a:tcPr anchor="ctr">
                    <a:solidFill>
                      <a:srgbClr val="FCE4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Moderate-high, early</a:t>
                      </a:r>
                    </a:p>
                  </a:txBody>
                  <a:tcPr anchor="ctr">
                    <a:solidFill>
                      <a:srgbClr val="FCE4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Lower dose may be needed</a:t>
                      </a:r>
                    </a:p>
                  </a:txBody>
                  <a:tcPr anchor="ctr">
                    <a:solidFill>
                      <a:srgbClr val="FCE4E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Intravascular injection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Plasma (V1)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Very high, immediate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000000"/>
                          </a:solidFill>
                        </a:defRPr>
                      </a:pPr>
                      <a:r>
                        <a:t>Traditional IV limits apply</a:t>
                      </a:r>
                    </a:p>
                  </a:txBody>
                  <a:tcPr anchor="ctr">
                    <a:solidFill>
                      <a:srgbClr val="FFCD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