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74F"/>
                </a:solidFill>
              </a:defRPr>
            </a:pPr>
            <a:r>
              <a:t>Figure 1. Comparison of Compartment Models for Three Clinical Scenarios</a:t>
            </a:r>
          </a:p>
        </p:txBody>
      </p:sp>
      <p:pic>
        <p:nvPicPr>
          <p:cNvPr id="3" name="Picture 2" descr="figure1_compartment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74F"/>
                </a:solidFill>
              </a:defRPr>
            </a:pPr>
            <a:r>
              <a:t>(A) Traditional IV model  |  (B) Successful regional block (BPT start)  |  (C) Failed block / Intravascular (Plasma/BRT start)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74F"/>
                </a:solidFill>
              </a:defRPr>
            </a:pPr>
            <a:r>
              <a:t>Figure 2. Simulated Plasma Concentration-Time Profiles</a:t>
            </a:r>
            <a:br/>
            <a:r>
              <a:t>by Initial Compartment of Drug Deposition</a:t>
            </a:r>
          </a:p>
        </p:txBody>
      </p:sp>
      <p:pic>
        <p:nvPicPr>
          <p:cNvPr id="3" name="Picture 2" descr="figure2_pk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74F"/>
                </a:solidFill>
              </a:defRPr>
            </a:pPr>
            <a:r>
              <a:t>Figure 3. Proposed PBPK-Based Workflow for Maximum Dose Reassessment</a:t>
            </a:r>
            <a:br/>
            <a:r>
              <a:t>in Regional Anaesthesia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926080" cy="914400"/>
          </a:xfrm>
          <a:prstGeom prst="roundRect">
            <a:avLst/>
          </a:prstGeom>
          <a:solidFill>
            <a:srgbClr val="5C6BC0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Clinical Assessment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474720" y="1325880"/>
            <a:ext cx="6400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1097280"/>
            <a:ext cx="2926080" cy="91440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Initial Compartment Selection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223760" y="1325880"/>
            <a:ext cx="6400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79" y="1097280"/>
            <a:ext cx="2926080" cy="914400"/>
          </a:xfrm>
          <a:prstGeom prst="roundRect">
            <a:avLst/>
          </a:prstGeom>
          <a:solidFill>
            <a:srgbClr val="9C27B0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PBPK Simulation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(PK-Sim / MoBi)</a:t>
            </a:r>
          </a:p>
        </p:txBody>
      </p:sp>
      <p:sp>
        <p:nvSpPr>
          <p:cNvPr id="8" name="Down Arrow 7"/>
          <p:cNvSpPr/>
          <p:nvPr/>
        </p:nvSpPr>
        <p:spPr>
          <a:xfrm>
            <a:off x="1828800" y="2286000"/>
            <a:ext cx="274320" cy="4572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5486400" y="2286000"/>
            <a:ext cx="274320" cy="457200"/>
          </a:xfrm>
          <a:prstGeom prst="down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9144000" y="2286000"/>
            <a:ext cx="274320" cy="457200"/>
          </a:xfrm>
          <a:prstGeom prst="downArrow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320040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E7D32"/>
                </a:solidFill>
              </a:defRPr>
            </a:pPr>
            <a:r>
              <a:t>Successful Block</a:t>
            </a:r>
          </a:p>
          <a:p>
            <a:pPr algn="ctr">
              <a:defRPr sz="1200" b="0">
                <a:solidFill>
                  <a:srgbClr val="2E7D32"/>
                </a:solidFill>
              </a:defRPr>
            </a:pPr>
            <a:r>
              <a:t>BPT Start</a:t>
            </a:r>
          </a:p>
          <a:p>
            <a:pPr algn="ctr">
              <a:defRPr sz="1200" b="0">
                <a:solidFill>
                  <a:srgbClr val="2E7D32"/>
                </a:solidFill>
              </a:defRPr>
            </a:pPr>
          </a:p>
          <a:p>
            <a:pPr algn="ctr">
              <a:defRPr sz="1200" b="0">
                <a:solidFill>
                  <a:srgbClr val="2E7D32"/>
                </a:solidFill>
              </a:defRPr>
            </a:pPr>
            <a:r>
              <a:t>Lower Cmax</a:t>
            </a:r>
          </a:p>
          <a:p>
            <a:pPr algn="ctr">
              <a:defRPr sz="1200" b="0">
                <a:solidFill>
                  <a:srgbClr val="2E7D32"/>
                </a:solidFill>
              </a:defRPr>
            </a:pPr>
            <a:r>
              <a:t>Higher safe dose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926080"/>
            <a:ext cx="3200400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65100"/>
                </a:solidFill>
              </a:defRPr>
            </a:pPr>
            <a:r>
              <a:t>Partial Block</a:t>
            </a:r>
          </a:p>
          <a:p>
            <a:pPr algn="ctr">
              <a:defRPr sz="1200" b="0">
                <a:solidFill>
                  <a:srgbClr val="E65100"/>
                </a:solidFill>
              </a:defRPr>
            </a:pPr>
            <a:r>
              <a:t>Mixed Start</a:t>
            </a:r>
          </a:p>
          <a:p>
            <a:pPr algn="ctr">
              <a:defRPr sz="1200" b="0">
                <a:solidFill>
                  <a:srgbClr val="E65100"/>
                </a:solidFill>
              </a:defRPr>
            </a:pPr>
          </a:p>
          <a:p>
            <a:pPr algn="ctr">
              <a:defRPr sz="1200" b="0">
                <a:solidFill>
                  <a:srgbClr val="E65100"/>
                </a:solidFill>
              </a:defRPr>
            </a:pPr>
            <a:r>
              <a:t>Intermediate Cmax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926080"/>
            <a:ext cx="3200400" cy="137160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62828"/>
                </a:solidFill>
              </a:defRPr>
            </a:pPr>
            <a:r>
              <a:t>Failed Block</a:t>
            </a:r>
          </a:p>
          <a:p>
            <a:pPr algn="ctr">
              <a:defRPr sz="1200" b="0">
                <a:solidFill>
                  <a:srgbClr val="C62828"/>
                </a:solidFill>
              </a:defRPr>
            </a:pPr>
            <a:r>
              <a:t>Plasma/BRT Start</a:t>
            </a:r>
          </a:p>
          <a:p>
            <a:pPr algn="ctr">
              <a:defRPr sz="1200" b="0">
                <a:solidFill>
                  <a:srgbClr val="C62828"/>
                </a:solidFill>
              </a:defRPr>
            </a:pPr>
          </a:p>
          <a:p>
            <a:pPr algn="ctr">
              <a:defRPr sz="1200" b="0">
                <a:solidFill>
                  <a:srgbClr val="C62828"/>
                </a:solidFill>
              </a:defRPr>
            </a:pPr>
            <a:r>
              <a:t>Higher Cmax</a:t>
            </a:r>
          </a:p>
          <a:p>
            <a:pPr algn="ctr">
              <a:defRPr sz="1200" b="0">
                <a:solidFill>
                  <a:srgbClr val="C62828"/>
                </a:solidFill>
              </a:defRPr>
            </a:pPr>
            <a:r>
              <a:t>Lower safe dose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828800" y="4480560"/>
            <a:ext cx="274320" cy="4572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486400" y="4480560"/>
            <a:ext cx="274320" cy="457200"/>
          </a:xfrm>
          <a:prstGeom prst="down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9144000" y="4480560"/>
            <a:ext cx="274320" cy="457200"/>
          </a:xfrm>
          <a:prstGeom prst="downArrow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0972800" cy="1097280"/>
          </a:xfrm>
          <a:prstGeom prst="roundRect">
            <a:avLst/>
          </a:prstGeom>
          <a:solidFill>
            <a:srgbClr val="00697C"/>
          </a:solidFill>
          <a:ln w="19050">
            <a:solidFill>
              <a:srgbClr val="006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4: Context-Sensitive Maximum Dose Recommendation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Individualised, scenario-dependent maximum dose based on predicted plasma concentration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Block type, site, success probability, patient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27B0"/>
                </a:solidFill>
              </a:defRPr>
            </a:pPr>
            <a:r>
              <a:t>Simulation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74F"/>
                </a:solidFill>
              </a:defRPr>
            </a:pPr>
            <a:r>
              <a:t>Figure 4. Route-Adaptive PKPD Simulation in AIMS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11612880" cy="5943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474F"/>
                </a:solidFill>
              </a:defRPr>
            </a:pPr>
            <a:r>
              <a:t>Anaesthesia Information Management System (AIMS)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657600" cy="13716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565C0"/>
                </a:solidFill>
              </a:defRPr>
            </a:pPr>
            <a:r>
              <a:t>Drug Administration Record</a:t>
            </a:r>
          </a:p>
          <a:p>
            <a:pPr algn="ctr">
              <a:defRPr sz="1100" b="0">
                <a:solidFill>
                  <a:srgbClr val="1565C0"/>
                </a:solidFill>
              </a:defRPr>
            </a:pPr>
          </a:p>
          <a:p>
            <a:pPr algn="ctr">
              <a:defRPr sz="1100" b="0">
                <a:solidFill>
                  <a:srgbClr val="1565C0"/>
                </a:solidFill>
              </a:defRPr>
            </a:pPr>
            <a:r>
              <a:t>Route: IV / Regional (block type)</a:t>
            </a:r>
          </a:p>
          <a:p>
            <a:pPr algn="ctr">
              <a:defRPr sz="1100" b="0">
                <a:solidFill>
                  <a:srgbClr val="1565C0"/>
                </a:solidFill>
              </a:defRPr>
            </a:pPr>
            <a:r>
              <a:t>Drug: Bupivacaine 150 mg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1645920"/>
            <a:ext cx="731520" cy="274320"/>
          </a:xfrm>
          <a:prstGeom prst="right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0" y="1188720"/>
            <a:ext cx="3200400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65100"/>
                </a:solidFill>
              </a:defRPr>
            </a:pPr>
            <a:r>
              <a:t>Route Detection</a:t>
            </a:r>
          </a:p>
          <a:p>
            <a:pPr algn="ctr">
              <a:defRPr sz="1000" b="0">
                <a:solidFill>
                  <a:srgbClr val="E65100"/>
                </a:solidFill>
              </a:defRPr>
            </a:pPr>
          </a:p>
          <a:p>
            <a:pPr algn="ctr">
              <a:defRPr sz="1000" b="0">
                <a:solidFill>
                  <a:srgbClr val="E65100"/>
                </a:solidFill>
              </a:defRPr>
            </a:pPr>
            <a:r>
              <a:t>IF route = IV:</a:t>
            </a:r>
          </a:p>
          <a:p>
            <a:pPr algn="ctr">
              <a:defRPr sz="1000" b="0">
                <a:solidFill>
                  <a:srgbClr val="E65100"/>
                </a:solidFill>
              </a:defRPr>
            </a:pPr>
            <a:r>
              <a:t>  -&gt; Standard 3-compartment</a:t>
            </a:r>
          </a:p>
          <a:p>
            <a:pPr algn="ctr">
              <a:defRPr sz="1000" b="0">
                <a:solidFill>
                  <a:srgbClr val="E65100"/>
                </a:solidFill>
              </a:defRPr>
            </a:pPr>
            <a:r>
              <a:t>IF route = Regional:</a:t>
            </a:r>
          </a:p>
          <a:p>
            <a:pPr algn="ctr">
              <a:defRPr sz="1000" b="0">
                <a:solidFill>
                  <a:srgbClr val="E65100"/>
                </a:solidFill>
              </a:defRPr>
            </a:pPr>
            <a:r>
              <a:t>  -&gt; Depot-augmented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6576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IV Model</a:t>
            </a:r>
          </a:p>
          <a:p>
            <a:pPr algn="ctr">
              <a:defRPr sz="1100" b="0">
                <a:solidFill>
                  <a:srgbClr val="2E7D32"/>
                </a:solidFill>
              </a:defRPr>
            </a:pPr>
          </a:p>
          <a:p>
            <a:pPr algn="ctr">
              <a:defRPr sz="1100" b="0">
                <a:solidFill>
                  <a:srgbClr val="2E7D32"/>
                </a:solidFill>
              </a:defRPr>
            </a:pPr>
            <a:r>
              <a:t>3-Compartment (Plasma start)</a:t>
            </a:r>
          </a:p>
          <a:p>
            <a:pPr algn="ctr">
              <a:defRPr sz="1100" b="0">
                <a:solidFill>
                  <a:srgbClr val="2E7D32"/>
                </a:solidFill>
              </a:defRPr>
            </a:pPr>
            <a:r>
              <a:t>V1 -&gt; V2 (BRT) + V3 (BPT)</a:t>
            </a:r>
          </a:p>
          <a:p>
            <a:pPr algn="ctr">
              <a:defRPr sz="1100" b="0">
                <a:solidFill>
                  <a:srgbClr val="2E7D32"/>
                </a:solidFill>
              </a:defRPr>
            </a:pPr>
          </a:p>
          <a:p>
            <a:pPr algn="ctr">
              <a:defRPr sz="1100" b="0">
                <a:solidFill>
                  <a:srgbClr val="2E7D32"/>
                </a:solidFill>
              </a:defRPr>
            </a:pPr>
            <a:r>
              <a:t>Standard Marsh / Schnider / Eleveld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926080"/>
            <a:ext cx="4114800" cy="16459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62828"/>
                </a:solidFill>
              </a:defRPr>
            </a:pPr>
            <a:r>
              <a:t>Regional Model (Route-Adaptive)</a:t>
            </a:r>
          </a:p>
          <a:p>
            <a:pPr algn="ctr">
              <a:defRPr sz="1000" b="0">
                <a:solidFill>
                  <a:srgbClr val="C62828"/>
                </a:solidFill>
              </a:defRPr>
            </a:pPr>
          </a:p>
          <a:p>
            <a:pPr algn="ctr">
              <a:defRPr sz="1000" b="0">
                <a:solidFill>
                  <a:srgbClr val="C62828"/>
                </a:solidFill>
              </a:defRPr>
            </a:pPr>
            <a:r>
              <a:t>Depot + 3-Compartment (BPT start)</a:t>
            </a:r>
          </a:p>
          <a:p>
            <a:pPr algn="ctr">
              <a:defRPr sz="1000" b="0">
                <a:solidFill>
                  <a:srgbClr val="C62828"/>
                </a:solidFill>
              </a:defRPr>
            </a:pPr>
            <a:r>
              <a:t>Depot(ka, F) -&gt; V1 -&gt; V2 + V3</a:t>
            </a:r>
          </a:p>
          <a:p>
            <a:pPr algn="ctr">
              <a:defRPr sz="1000" b="0">
                <a:solidFill>
                  <a:srgbClr val="C62828"/>
                </a:solidFill>
              </a:defRPr>
            </a:pPr>
          </a:p>
          <a:p>
            <a:pPr algn="ctr">
              <a:defRPr sz="1000" b="0">
                <a:solidFill>
                  <a:srgbClr val="C62828"/>
                </a:solidFill>
              </a:defRPr>
            </a:pPr>
            <a:r>
              <a:t>Block-type-specific ka values</a:t>
            </a:r>
          </a:p>
          <a:p>
            <a:pPr algn="ctr">
              <a:defRPr sz="1000" b="0">
                <a:solidFill>
                  <a:srgbClr val="C62828"/>
                </a:solidFill>
              </a:defRPr>
            </a:pPr>
            <a:r>
              <a:t>(TAP, ESP, FNB, Epidural,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3108960"/>
            <a:ext cx="2286000" cy="11887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A1B9A"/>
                </a:solidFill>
              </a:defRPr>
            </a:pPr>
            <a:r>
              <a:t>Block Success</a:t>
            </a:r>
          </a:p>
          <a:p>
            <a:pPr algn="ctr">
              <a:defRPr sz="1000" b="0">
                <a:solidFill>
                  <a:srgbClr val="6A1B9A"/>
                </a:solidFill>
              </a:defRPr>
            </a:pPr>
            <a:r>
              <a:t>Feedback</a:t>
            </a:r>
          </a:p>
          <a:p>
            <a:pPr algn="ctr">
              <a:defRPr sz="1000" b="0">
                <a:solidFill>
                  <a:srgbClr val="6A1B9A"/>
                </a:solidFill>
              </a:defRPr>
            </a:pPr>
          </a:p>
          <a:p>
            <a:pPr algn="ctr">
              <a:defRPr sz="1000" b="0">
                <a:solidFill>
                  <a:srgbClr val="6A1B9A"/>
                </a:solidFill>
              </a:defRPr>
            </a:pPr>
            <a:r>
              <a:t>Adjust ka in real time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94560" y="2606040"/>
            <a:ext cx="228600" cy="32004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IV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675120" y="2606040"/>
            <a:ext cx="228600" cy="32004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</a:defRPr>
            </a:pPr>
            <a:r>
              <a:t>Regional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566160"/>
            <a:ext cx="365760" cy="182880"/>
          </a:xfrm>
          <a:prstGeom prst="rightArrow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0972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474F"/>
                </a:solidFill>
              </a:defRPr>
            </a:pPr>
            <a:r>
              <a:t>Real-Time AIMS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74F"/>
                </a:solidFill>
              </a:defRPr>
            </a:pPr>
            <a:r>
              <a:t>Predicted Plasma Concentration</a:t>
            </a:r>
            <a:br/>
            <a:br/>
            <a:r>
              <a:t>--- IV model: rapid peak, fast decline</a:t>
            </a:r>
            <a:br/>
            <a:r>
              <a:t>--- Regional model: low, delayed Cmax</a:t>
            </a:r>
            <a:br/>
            <a:r>
              <a:t>--- Toxicity threshold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74F"/>
                </a:solidFill>
              </a:defRPr>
            </a:pPr>
            <a:r>
              <a:t>Dose Guidance Panel</a:t>
            </a:r>
            <a:br/>
            <a:br/>
            <a:r>
              <a:t>Current dose: 150 mg bupivacaine</a:t>
            </a:r>
            <a:br/>
            <a:r>
              <a:t>Route: TAP block (bilateral)</a:t>
            </a:r>
            <a:br/>
            <a:r>
              <a:t>Predicted Cmax: 0.8 ug/mL (safe)</a:t>
            </a:r>
            <a:br/>
            <a:r>
              <a:t>Remaining margin: 68% below threshold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194560" y="4617720"/>
            <a:ext cx="228600" cy="22860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6675120" y="4617720"/>
            <a:ext cx="228600" cy="228600"/>
          </a:xfrm>
          <a:prstGeom prst="downArrow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474F"/>
                </a:solidFill>
              </a:defRPr>
            </a:pPr>
            <a:r>
              <a:t>Table 1. Proposed Context-Sensitive Maximum Dose Framework</a:t>
            </a:r>
            <a:br/>
            <a:r>
              <a:t>for Local Anaesthetics in Regional Anaesthesia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10312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Initial Compartment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Expected Cmax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Dose Adjustment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Successful block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(perineural / fascial)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BPT (V3)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Vessel-poor tissue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Low, delayed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Higher dose may be safe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Partial block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Mixed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(BPT + BRT / Plasma)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Intermediate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Standard dose limit applies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Failed block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(tissue misplacement)</a:t>
                      </a: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BRT (V2)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Vessel-rich tissue</a:t>
                      </a: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Moderate-high, early</a:t>
                      </a: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Lower dose may be needed</a:t>
                      </a: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Intravascular injection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Plasma (V1)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Very high, immediate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Traditional IV limits apply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Epidural administration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Depot (multi-pathway)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Fat + dural transfer + vascular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Intermediate, delayed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Adequately approximated</a:t>
                      </a:r>
                    </a:p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by depot model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E9E9E"/>
                </a:solidFill>
              </a:defRPr>
            </a:pPr>
            <a:r>
              <a:t>Note: Spinal (intrathecal) anaesthesia was excluded from this framework due to unique CSF pharmacokinetics,</a:t>
            </a:r>
            <a:br/>
            <a:r>
              <a:t>small doses employed, and predominantly single-shot nature of the technique.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